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rts/chart1.xml" ContentType="application/vnd.openxmlformats-officedocument.drawingml.chart+xml"/>
  <Override PartName="/ppt/notesSlides/notesSlide3.xml" ContentType="application/vnd.openxmlformats-officedocument.presentationml.notesSlide+xml"/>
  <Override PartName="/ppt/charts/chart2.xml" ContentType="application/vnd.openxmlformats-officedocument.drawingml.chart+xml"/>
  <Override PartName="/ppt/notesSlides/notesSlide4.xml" ContentType="application/vnd.openxmlformats-officedocument.presentationml.notesSlide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5.xml" ContentType="application/vnd.openxmlformats-officedocument.drawingml.chart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60" r:id="rId3"/>
    <p:sldId id="261" r:id="rId4"/>
    <p:sldId id="262" r:id="rId5"/>
    <p:sldId id="263" r:id="rId6"/>
    <p:sldId id="264" r:id="rId7"/>
    <p:sldId id="265" r:id="rId8"/>
    <p:sldId id="266" r:id="rId9"/>
    <p:sldId id="267" r:id="rId1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6" d="100"/>
          <a:sy n="106" d="100"/>
        </p:scale>
        <p:origin x="778" y="-2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Rentals/Hr</c:v>
                </c:pt>
              </c:strCache>
            </c:strRef>
          </c:tx>
          <c:spPr>
            <a:solidFill>
              <a:srgbClr val="D97706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71A8-4BC4-AF86-C09A712CC109}"/>
              </c:ext>
            </c:extLst>
          </c:dPt>
          <c:dPt>
            <c:idx val="1"/>
            <c:invertIfNegative val="0"/>
            <c:bubble3D val="0"/>
            <c:spPr>
              <a:solidFill>
                <a:srgbClr val="DC262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71A8-4BC4-AF86-C09A712CC109}"/>
              </c:ext>
            </c:extLst>
          </c:dPt>
          <c:dPt>
            <c:idx val="2"/>
            <c:invertIfNegative val="0"/>
            <c:bubble3D val="0"/>
            <c:spPr>
              <a:solidFill>
                <a:srgbClr val="4C1D95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71A8-4BC4-AF86-C09A712CC109}"/>
              </c:ext>
            </c:extLst>
          </c:dPt>
          <c:dPt>
            <c:idx val="3"/>
            <c:invertIfNegative val="0"/>
            <c:bubble3D val="0"/>
            <c:spPr>
              <a:solidFill>
                <a:srgbClr val="059669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71A8-4BC4-AF86-C09A712CC109}"/>
              </c:ext>
            </c:extLst>
          </c:dPt>
          <c:dPt>
            <c:idx val="4"/>
            <c:invertIfNegative val="0"/>
            <c:bubble3D val="0"/>
            <c:spPr>
              <a:solidFill>
                <a:srgbClr val="0891B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71A8-4BC4-AF86-C09A712CC109}"/>
              </c:ext>
            </c:extLst>
          </c:dPt>
          <c:dPt>
            <c:idx val="5"/>
            <c:invertIfNegative val="0"/>
            <c:bubble3D val="0"/>
            <c:spPr>
              <a:solidFill>
                <a:srgbClr val="0369A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71A8-4BC4-AF86-C09A712CC109}"/>
              </c:ext>
            </c:extLst>
          </c:dPt>
          <c:dPt>
            <c:idx val="6"/>
            <c:invertIfNegative val="0"/>
            <c:bubble3D val="0"/>
            <c:spPr>
              <a:solidFill>
                <a:srgbClr val="7C3AED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D-71A8-4BC4-AF86-C09A712CC109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7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Sheet1!$A$2:$A$8</c:f>
              <c:strCache>
                <c:ptCount val="7"/>
                <c:pt idx="0">
                  <c:v>Afternoon</c:v>
                </c:pt>
                <c:pt idx="1">
                  <c:v>Evening Rush</c:v>
                </c:pt>
                <c:pt idx="2">
                  <c:v>Late Night</c:v>
                </c:pt>
                <c:pt idx="3">
                  <c:v>Lunch</c:v>
                </c:pt>
                <c:pt idx="4">
                  <c:v>Mid Morning</c:v>
                </c:pt>
                <c:pt idx="5">
                  <c:v>Morning Rush</c:v>
                </c:pt>
                <c:pt idx="6">
                  <c:v>Night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80.62</c:v>
                </c:pt>
                <c:pt idx="1">
                  <c:v>116.25</c:v>
                </c:pt>
                <c:pt idx="2">
                  <c:v>8.83</c:v>
                </c:pt>
                <c:pt idx="3">
                  <c:v>77.430000000000007</c:v>
                </c:pt>
                <c:pt idx="4">
                  <c:v>56.51</c:v>
                </c:pt>
                <c:pt idx="5">
                  <c:v>59.54</c:v>
                </c:pt>
                <c:pt idx="6">
                  <c:v>42.11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E-71A8-4BC4-AF86-C09A712CC109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2D374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161B22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Avg/Hr</c:v>
                </c:pt>
              </c:strCache>
            </c:strRef>
          </c:tx>
          <c:spPr>
            <a:solidFill>
              <a:srgbClr val="38BDF8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38BDF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C3B6-498E-9CA7-32455F18F501}"/>
              </c:ext>
            </c:extLst>
          </c:dPt>
          <c:dPt>
            <c:idx val="1"/>
            <c:invertIfNegative val="0"/>
            <c:bubble3D val="0"/>
            <c:spPr>
              <a:solidFill>
                <a:srgbClr val="94A3B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C3B6-498E-9CA7-32455F18F501}"/>
              </c:ext>
            </c:extLst>
          </c:dPt>
          <c:dPt>
            <c:idx val="2"/>
            <c:invertIfNegative val="0"/>
            <c:bubble3D val="0"/>
            <c:spPr>
              <a:solidFill>
                <a:srgbClr val="60A5F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C3B6-498E-9CA7-32455F18F501}"/>
              </c:ext>
            </c:extLst>
          </c:dPt>
          <c:dPt>
            <c:idx val="3"/>
            <c:invertIfNegative val="0"/>
            <c:bubble3D val="0"/>
            <c:spPr>
              <a:solidFill>
                <a:srgbClr val="334155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C3B6-498E-9CA7-32455F18F501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Clear</c:v>
                </c:pt>
                <c:pt idx="1">
                  <c:v>Mist/Cloudy</c:v>
                </c:pt>
                <c:pt idx="2">
                  <c:v>Lt Rain</c:v>
                </c:pt>
                <c:pt idx="3">
                  <c:v>Heavy Rain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61.67</c:v>
                </c:pt>
                <c:pt idx="1">
                  <c:v>58.6</c:v>
                </c:pt>
                <c:pt idx="2">
                  <c:v>33.200000000000003</c:v>
                </c:pt>
                <c:pt idx="3">
                  <c:v>36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C3B6-498E-9CA7-32455F18F501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2D374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161B22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Avg/Hr</c:v>
                </c:pt>
              </c:strCache>
            </c:strRef>
          </c:tx>
          <c:spPr>
            <a:solidFill>
              <a:srgbClr val="38BDF8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38BDF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6EF9-450F-AF53-E832430BD682}"/>
              </c:ext>
            </c:extLst>
          </c:dPt>
          <c:dPt>
            <c:idx val="1"/>
            <c:invertIfNegative val="0"/>
            <c:bubble3D val="0"/>
            <c:spPr>
              <a:solidFill>
                <a:srgbClr val="34D399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6EF9-450F-AF53-E832430BD682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Cold</c:v>
                </c:pt>
                <c:pt idx="1">
                  <c:v>Mild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53.11</c:v>
                </c:pt>
                <c:pt idx="1">
                  <c:v>76.63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6EF9-450F-AF53-E832430BD682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2D374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161B22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Casual</c:v>
                </c:pt>
              </c:strCache>
            </c:strRef>
          </c:tx>
          <c:spPr>
            <a:solidFill>
              <a:srgbClr val="FB923C"/>
            </a:solidFill>
            <a:effectLst/>
          </c:spPr>
          <c:invertIfNegative val="0"/>
          <c:cat>
            <c:strRef>
              <c:f>Sheet1!$A$2:$A$8</c:f>
              <c:strCache>
                <c:ptCount val="7"/>
                <c:pt idx="0">
                  <c:v>Afternoon</c:v>
                </c:pt>
                <c:pt idx="1">
                  <c:v>Evening Rush</c:v>
                </c:pt>
                <c:pt idx="2">
                  <c:v>Late Night</c:v>
                </c:pt>
                <c:pt idx="3">
                  <c:v>Lunch</c:v>
                </c:pt>
                <c:pt idx="4">
                  <c:v>Mid Morning</c:v>
                </c:pt>
                <c:pt idx="5">
                  <c:v>Morning Rush</c:v>
                </c:pt>
                <c:pt idx="6">
                  <c:v>Night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1495</c:v>
                </c:pt>
                <c:pt idx="1">
                  <c:v>804</c:v>
                </c:pt>
                <c:pt idx="2">
                  <c:v>196</c:v>
                </c:pt>
                <c:pt idx="3">
                  <c:v>995</c:v>
                </c:pt>
                <c:pt idx="4">
                  <c:v>583</c:v>
                </c:pt>
                <c:pt idx="5">
                  <c:v>387</c:v>
                </c:pt>
                <c:pt idx="6">
                  <c:v>461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BBF-422D-B0EB-9AE54FB41F6B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Registered</c:v>
                </c:pt>
              </c:strCache>
            </c:strRef>
          </c:tx>
          <c:spPr>
            <a:solidFill>
              <a:srgbClr val="818CF8"/>
            </a:solidFill>
            <a:effectLst/>
          </c:spPr>
          <c:invertIfNegative val="0"/>
          <c:cat>
            <c:strRef>
              <c:f>Sheet1!$A$2:$A$8</c:f>
              <c:strCache>
                <c:ptCount val="7"/>
                <c:pt idx="0">
                  <c:v>Afternoon</c:v>
                </c:pt>
                <c:pt idx="1">
                  <c:v>Evening Rush</c:v>
                </c:pt>
                <c:pt idx="2">
                  <c:v>Late Night</c:v>
                </c:pt>
                <c:pt idx="3">
                  <c:v>Lunch</c:v>
                </c:pt>
                <c:pt idx="4">
                  <c:v>Mid Morning</c:v>
                </c:pt>
                <c:pt idx="5">
                  <c:v>Morning Rush</c:v>
                </c:pt>
                <c:pt idx="6">
                  <c:v>Night</c:v>
                </c:pt>
              </c:strCache>
            </c: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8985</c:v>
                </c:pt>
                <c:pt idx="1">
                  <c:v>14309</c:v>
                </c:pt>
                <c:pt idx="2">
                  <c:v>1481</c:v>
                </c:pt>
                <c:pt idx="3">
                  <c:v>5664</c:v>
                </c:pt>
                <c:pt idx="4">
                  <c:v>4164</c:v>
                </c:pt>
                <c:pt idx="5">
                  <c:v>11998</c:v>
                </c:pt>
                <c:pt idx="6">
                  <c:v>6782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FBBF-422D-B0EB-9AE54FB41F6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"/>
        <c:overlap val="10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2D374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900">
              <a:solidFill>
                <a:srgbClr val="94A3B8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161B22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Correlation (r)</c:v>
                </c:pt>
              </c:strCache>
            </c:strRef>
          </c:tx>
          <c:spPr>
            <a:solidFill>
              <a:srgbClr val="145A32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798E-43F7-8C14-AB28795F3DF1}"/>
              </c:ext>
            </c:extLst>
          </c:dPt>
          <c:dPt>
            <c:idx val="1"/>
            <c:invertIfNegative val="0"/>
            <c:bubble3D val="0"/>
            <c:spPr>
              <a:solidFill>
                <a:srgbClr val="1E8449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798E-43F7-8C14-AB28795F3DF1}"/>
              </c:ext>
            </c:extLst>
          </c:dPt>
          <c:dPt>
            <c:idx val="2"/>
            <c:invertIfNegative val="0"/>
            <c:bubble3D val="0"/>
            <c:spPr>
              <a:solidFill>
                <a:srgbClr val="1A527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798E-43F7-8C14-AB28795F3DF1}"/>
              </c:ext>
            </c:extLst>
          </c:dPt>
          <c:dPt>
            <c:idx val="3"/>
            <c:invertIfNegative val="0"/>
            <c:bubble3D val="0"/>
            <c:spPr>
              <a:solidFill>
                <a:srgbClr val="1A527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798E-43F7-8C14-AB28795F3DF1}"/>
              </c:ext>
            </c:extLst>
          </c:dPt>
          <c:dPt>
            <c:idx val="4"/>
            <c:invertIfNegative val="0"/>
            <c:bubble3D val="0"/>
            <c:spPr>
              <a:solidFill>
                <a:srgbClr val="2C3E5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798E-43F7-8C14-AB28795F3DF1}"/>
              </c:ext>
            </c:extLst>
          </c:dPt>
          <c:dPt>
            <c:idx val="5"/>
            <c:invertIfNegative val="0"/>
            <c:bubble3D val="0"/>
            <c:spPr>
              <a:solidFill>
                <a:srgbClr val="2C3E5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798E-43F7-8C14-AB28795F3DF1}"/>
              </c:ext>
            </c:extLst>
          </c:dPt>
          <c:dPt>
            <c:idx val="6"/>
            <c:invertIfNegative val="0"/>
            <c:bubble3D val="0"/>
            <c:spPr>
              <a:solidFill>
                <a:srgbClr val="2C3E5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D-798E-43F7-8C14-AB28795F3DF1}"/>
              </c:ext>
            </c:extLst>
          </c:dPt>
          <c:dPt>
            <c:idx val="7"/>
            <c:invertIfNegative val="0"/>
            <c:bubble3D val="0"/>
            <c:spPr>
              <a:solidFill>
                <a:srgbClr val="7B241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F-798E-43F7-8C14-AB28795F3DF1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Sheet1!$A$2:$A$9</c:f>
              <c:strCache>
                <c:ptCount val="8"/>
                <c:pt idx="0">
                  <c:v>Registered</c:v>
                </c:pt>
                <c:pt idx="1">
                  <c:v>Casual</c:v>
                </c:pt>
                <c:pt idx="2">
                  <c:v>Hour</c:v>
                </c:pt>
                <c:pt idx="3">
                  <c:v>Temp</c:v>
                </c:pt>
                <c:pt idx="4">
                  <c:v>Feels Temp</c:v>
                </c:pt>
                <c:pt idx="5">
                  <c:v>Windspeed</c:v>
                </c:pt>
                <c:pt idx="6">
                  <c:v>Weekday</c:v>
                </c:pt>
                <c:pt idx="7">
                  <c:v>Humidity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0.99</c:v>
                </c:pt>
                <c:pt idx="1">
                  <c:v>0.69799999999999995</c:v>
                </c:pt>
                <c:pt idx="2">
                  <c:v>0.36599999999999999</c:v>
                </c:pt>
                <c:pt idx="3">
                  <c:v>0.22900000000000001</c:v>
                </c:pt>
                <c:pt idx="4">
                  <c:v>0.183</c:v>
                </c:pt>
                <c:pt idx="5">
                  <c:v>0.104</c:v>
                </c:pt>
                <c:pt idx="6">
                  <c:v>2.5000000000000001E-2</c:v>
                </c:pt>
                <c:pt idx="7">
                  <c:v>-0.254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0-798E-43F7-8C14-AB28795F3DF1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CBD5E1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2D374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161B22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833243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17920" y="-1371600"/>
            <a:ext cx="5486400" cy="5486400"/>
          </a:xfrm>
          <a:prstGeom prst="ellipse">
            <a:avLst/>
          </a:prstGeom>
          <a:solidFill>
            <a:srgbClr val="1B3A6B">
              <a:alpha val="3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828800" y="3200400"/>
            <a:ext cx="4572000" cy="4572000"/>
          </a:xfrm>
          <a:prstGeom prst="ellipse">
            <a:avLst/>
          </a:prstGeom>
          <a:solidFill>
            <a:srgbClr val="1E3A5F">
              <a:alpha val="3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32004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400" dirty="0">
                <a:solidFill>
                  <a:srgbClr val="000000"/>
                </a:solidFill>
              </a:rPr>
              <a:t>🚲</a:t>
            </a:r>
            <a:endParaRPr lang="en-US" sz="6400" dirty="0"/>
          </a:p>
        </p:txBody>
      </p:sp>
      <p:sp>
        <p:nvSpPr>
          <p:cNvPr id="5" name="Text 3"/>
          <p:cNvSpPr/>
          <p:nvPr/>
        </p:nvSpPr>
        <p:spPr>
          <a:xfrm>
            <a:off x="457200" y="1600200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BIKE SHARING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457200" y="2212848"/>
            <a:ext cx="8412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b="1" kern="0" spc="3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 ANALYSIS</a:t>
            </a:r>
            <a:endParaRPr lang="en-US" sz="4600" dirty="0"/>
          </a:p>
        </p:txBody>
      </p:sp>
      <p:sp>
        <p:nvSpPr>
          <p:cNvPr id="7" name="Text 5"/>
          <p:cNvSpPr/>
          <p:nvPr/>
        </p:nvSpPr>
        <p:spPr>
          <a:xfrm>
            <a:off x="457200" y="29260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kern="0" spc="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REPORT  ·  NEXTHIKES IT SOLUTIONS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3328416"/>
            <a:ext cx="4754880" cy="36576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9" name="Shape 7"/>
          <p:cNvSpPr/>
          <p:nvPr/>
        </p:nvSpPr>
        <p:spPr>
          <a:xfrm>
            <a:off x="457200" y="3566160"/>
            <a:ext cx="1554480" cy="1005840"/>
          </a:xfrm>
          <a:prstGeom prst="rect">
            <a:avLst/>
          </a:prstGeom>
          <a:solidFill>
            <a:srgbClr val="161B22"/>
          </a:solidFill>
          <a:ln/>
          <a:effectLst>
            <a:outerShdw blurRad="127000" dist="381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" y="3566160"/>
            <a:ext cx="1554480" cy="4572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3621024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58,304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457200" y="4078224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Rentals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2194560" y="3566160"/>
            <a:ext cx="1554480" cy="1005840"/>
          </a:xfrm>
          <a:prstGeom prst="rect">
            <a:avLst/>
          </a:prstGeom>
          <a:solidFill>
            <a:srgbClr val="161B22"/>
          </a:solidFill>
          <a:ln/>
          <a:effectLst>
            <a:outerShdw blurRad="127000" dist="381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194560" y="3566160"/>
            <a:ext cx="1554480" cy="45720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15" name="Text 13"/>
          <p:cNvSpPr/>
          <p:nvPr/>
        </p:nvSpPr>
        <p:spPr>
          <a:xfrm>
            <a:off x="2194560" y="3621024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1,000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2194560" y="4078224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 (Hrs)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3931920" y="3566160"/>
            <a:ext cx="1554480" cy="1005840"/>
          </a:xfrm>
          <a:prstGeom prst="rect">
            <a:avLst/>
          </a:prstGeom>
          <a:solidFill>
            <a:srgbClr val="161B22"/>
          </a:solidFill>
          <a:ln/>
          <a:effectLst>
            <a:outerShdw blurRad="127000" dist="381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931920" y="3566160"/>
            <a:ext cx="1554480" cy="45720"/>
          </a:xfrm>
          <a:prstGeom prst="rect">
            <a:avLst/>
          </a:prstGeom>
          <a:solidFill>
            <a:srgbClr val="818CF8"/>
          </a:solidFill>
          <a:ln/>
        </p:spPr>
      </p:sp>
      <p:sp>
        <p:nvSpPr>
          <p:cNvPr id="19" name="Text 17"/>
          <p:cNvSpPr/>
          <p:nvPr/>
        </p:nvSpPr>
        <p:spPr>
          <a:xfrm>
            <a:off x="3931920" y="3621024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91.6%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931920" y="4078224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Registered Users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5669280" y="3566160"/>
            <a:ext cx="1554480" cy="1005840"/>
          </a:xfrm>
          <a:prstGeom prst="rect">
            <a:avLst/>
          </a:prstGeom>
          <a:solidFill>
            <a:srgbClr val="161B22"/>
          </a:solidFill>
          <a:ln/>
          <a:effectLst>
            <a:outerShdw blurRad="127000" dist="381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5669280" y="3566160"/>
            <a:ext cx="1554480" cy="45720"/>
          </a:xfrm>
          <a:prstGeom prst="rect">
            <a:avLst/>
          </a:prstGeom>
          <a:solidFill>
            <a:srgbClr val="FB923C"/>
          </a:solidFill>
          <a:ln/>
        </p:spPr>
      </p:sp>
      <p:sp>
        <p:nvSpPr>
          <p:cNvPr id="23" name="Text 21"/>
          <p:cNvSpPr/>
          <p:nvPr/>
        </p:nvSpPr>
        <p:spPr>
          <a:xfrm>
            <a:off x="5669280" y="3621024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B9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17:00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5669280" y="4078224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Hour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7406640" y="3566160"/>
            <a:ext cx="1554480" cy="1005840"/>
          </a:xfrm>
          <a:prstGeom prst="rect">
            <a:avLst/>
          </a:prstGeom>
          <a:solidFill>
            <a:srgbClr val="161B22"/>
          </a:solidFill>
          <a:ln/>
          <a:effectLst>
            <a:outerShdw blurRad="127000" dist="381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7406640" y="3566160"/>
            <a:ext cx="1554480" cy="45720"/>
          </a:xfrm>
          <a:prstGeom prst="rect">
            <a:avLst/>
          </a:prstGeom>
          <a:solidFill>
            <a:srgbClr val="F472B6"/>
          </a:solidFill>
          <a:ln/>
        </p:spPr>
      </p:sp>
      <p:sp>
        <p:nvSpPr>
          <p:cNvPr id="27" name="Text 25"/>
          <p:cNvSpPr/>
          <p:nvPr/>
        </p:nvSpPr>
        <p:spPr>
          <a:xfrm>
            <a:off x="7406640" y="3621024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47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116.3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7406640" y="4078224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Avg/Hr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457200" y="470916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Jan–Feb 2011  ·  Washington D.C.  ·  Capital Bikeshare System</a:t>
            </a:r>
            <a:endParaRPr lang="en-US" sz="900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129AAA8C-B52C-8799-A97A-2A70F5E1FF19}"/>
              </a:ext>
            </a:extLst>
          </p:cNvPr>
          <p:cNvSpPr txBox="1"/>
          <p:nvPr/>
        </p:nvSpPr>
        <p:spPr>
          <a:xfrm>
            <a:off x="6391116" y="2814566"/>
            <a:ext cx="24785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>
                <a:solidFill>
                  <a:schemeClr val="bg1"/>
                </a:solidFill>
              </a:rPr>
              <a:t>By Subhashree Mohanty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8321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Pivot 1 — Rental Demand by Hour Period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11480" y="640080"/>
            <a:ext cx="8321040" cy="18288"/>
          </a:xfrm>
          <a:prstGeom prst="rect">
            <a:avLst/>
          </a:prstGeom>
          <a:solidFill>
            <a:srgbClr val="1C2333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676656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Sheet6  ·  7 time periods  ·  Total: 58,304 rentals across 1,000 hours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411480" y="1051560"/>
            <a:ext cx="1463040" cy="292608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051560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 Period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1920240" y="1051560"/>
            <a:ext cx="1188720" cy="292608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8" name="Text 6"/>
          <p:cNvSpPr/>
          <p:nvPr/>
        </p:nvSpPr>
        <p:spPr>
          <a:xfrm>
            <a:off x="1965960" y="1051560"/>
            <a:ext cx="1143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Rentals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154680" y="1051560"/>
            <a:ext cx="1188720" cy="292608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10" name="Text 8"/>
          <p:cNvSpPr/>
          <p:nvPr/>
        </p:nvSpPr>
        <p:spPr>
          <a:xfrm>
            <a:off x="3200400" y="1051560"/>
            <a:ext cx="1143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Rentals/Hr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4389120" y="1051560"/>
            <a:ext cx="1051560" cy="292608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12" name="Text 10"/>
          <p:cNvSpPr/>
          <p:nvPr/>
        </p:nvSpPr>
        <p:spPr>
          <a:xfrm>
            <a:off x="4434840" y="1051560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Rentals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5486400" y="1051560"/>
            <a:ext cx="1051560" cy="292608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14" name="Text 12"/>
          <p:cNvSpPr/>
          <p:nvPr/>
        </p:nvSpPr>
        <p:spPr>
          <a:xfrm>
            <a:off x="5532120" y="1051560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 Rentals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6583680" y="1051560"/>
            <a:ext cx="777240" cy="292608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16" name="Text 14"/>
          <p:cNvSpPr/>
          <p:nvPr/>
        </p:nvSpPr>
        <p:spPr>
          <a:xfrm>
            <a:off x="6629400" y="1051560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411480" y="1371600"/>
            <a:ext cx="1463040" cy="310896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" y="1371600"/>
            <a:ext cx="1417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Afternoon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1920240" y="1371600"/>
            <a:ext cx="1188720" cy="310896"/>
          </a:xfrm>
          <a:prstGeom prst="rect">
            <a:avLst/>
          </a:prstGeom>
          <a:solidFill>
            <a:srgbClr val="1C2333"/>
          </a:solidFill>
          <a:ln/>
        </p:spPr>
      </p:sp>
      <p:sp>
        <p:nvSpPr>
          <p:cNvPr id="20" name="Text 18"/>
          <p:cNvSpPr/>
          <p:nvPr/>
        </p:nvSpPr>
        <p:spPr>
          <a:xfrm>
            <a:off x="1965960" y="1371600"/>
            <a:ext cx="1143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10,480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154680" y="1371600"/>
            <a:ext cx="1188720" cy="310896"/>
          </a:xfrm>
          <a:prstGeom prst="rect">
            <a:avLst/>
          </a:prstGeom>
          <a:solidFill>
            <a:srgbClr val="1C2333"/>
          </a:solidFill>
          <a:ln/>
        </p:spPr>
      </p:sp>
      <p:sp>
        <p:nvSpPr>
          <p:cNvPr id="22" name="Text 20"/>
          <p:cNvSpPr/>
          <p:nvPr/>
        </p:nvSpPr>
        <p:spPr>
          <a:xfrm>
            <a:off x="3200400" y="1371600"/>
            <a:ext cx="1143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80.62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389120" y="1371600"/>
            <a:ext cx="1051560" cy="310896"/>
          </a:xfrm>
          <a:prstGeom prst="rect">
            <a:avLst/>
          </a:prstGeom>
          <a:solidFill>
            <a:srgbClr val="1C2333"/>
          </a:solidFill>
          <a:ln/>
        </p:spPr>
      </p:sp>
      <p:sp>
        <p:nvSpPr>
          <p:cNvPr id="24" name="Text 22"/>
          <p:cNvSpPr/>
          <p:nvPr/>
        </p:nvSpPr>
        <p:spPr>
          <a:xfrm>
            <a:off x="4434840" y="1371600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182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5486400" y="1371600"/>
            <a:ext cx="1051560" cy="310896"/>
          </a:xfrm>
          <a:prstGeom prst="rect">
            <a:avLst/>
          </a:prstGeom>
          <a:solidFill>
            <a:srgbClr val="1C2333"/>
          </a:solidFill>
          <a:ln/>
        </p:spPr>
      </p:sp>
      <p:sp>
        <p:nvSpPr>
          <p:cNvPr id="26" name="Text 24"/>
          <p:cNvSpPr/>
          <p:nvPr/>
        </p:nvSpPr>
        <p:spPr>
          <a:xfrm>
            <a:off x="5532120" y="1371600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6583680" y="1371600"/>
            <a:ext cx="777240" cy="310896"/>
          </a:xfrm>
          <a:prstGeom prst="rect">
            <a:avLst/>
          </a:prstGeom>
          <a:solidFill>
            <a:srgbClr val="1C2333"/>
          </a:solidFill>
          <a:ln/>
        </p:spPr>
      </p:sp>
      <p:sp>
        <p:nvSpPr>
          <p:cNvPr id="28" name="Text 26"/>
          <p:cNvSpPr/>
          <p:nvPr/>
        </p:nvSpPr>
        <p:spPr>
          <a:xfrm>
            <a:off x="6629400" y="1371600"/>
            <a:ext cx="731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130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11480" y="1700784"/>
            <a:ext cx="1463040" cy="310896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0" name="Text 28"/>
          <p:cNvSpPr/>
          <p:nvPr/>
        </p:nvSpPr>
        <p:spPr>
          <a:xfrm>
            <a:off x="457200" y="1700784"/>
            <a:ext cx="1417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Evening Rush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1920240" y="1700784"/>
            <a:ext cx="1188720" cy="310896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32" name="Text 30"/>
          <p:cNvSpPr/>
          <p:nvPr/>
        </p:nvSpPr>
        <p:spPr>
          <a:xfrm>
            <a:off x="1965960" y="1700784"/>
            <a:ext cx="1143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15,113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3154680" y="1700784"/>
            <a:ext cx="1188720" cy="310896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34" name="Text 32"/>
          <p:cNvSpPr/>
          <p:nvPr/>
        </p:nvSpPr>
        <p:spPr>
          <a:xfrm>
            <a:off x="3200400" y="1700784"/>
            <a:ext cx="1143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116.25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4389120" y="1700784"/>
            <a:ext cx="1051560" cy="310896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36" name="Text 34"/>
          <p:cNvSpPr/>
          <p:nvPr/>
        </p:nvSpPr>
        <p:spPr>
          <a:xfrm>
            <a:off x="4434840" y="1700784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225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5486400" y="1700784"/>
            <a:ext cx="1051560" cy="310896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38" name="Text 36"/>
          <p:cNvSpPr/>
          <p:nvPr/>
        </p:nvSpPr>
        <p:spPr>
          <a:xfrm>
            <a:off x="5532120" y="1700784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6583680" y="1700784"/>
            <a:ext cx="777240" cy="310896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40" name="Text 38"/>
          <p:cNvSpPr/>
          <p:nvPr/>
        </p:nvSpPr>
        <p:spPr>
          <a:xfrm>
            <a:off x="6629400" y="1700784"/>
            <a:ext cx="731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130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411480" y="2029968"/>
            <a:ext cx="1463040" cy="310896"/>
          </a:xfrm>
          <a:prstGeom prst="rect">
            <a:avLst/>
          </a:prstGeom>
          <a:solidFill>
            <a:srgbClr val="4C1D95"/>
          </a:solidFill>
          <a:ln/>
        </p:spPr>
      </p:sp>
      <p:sp>
        <p:nvSpPr>
          <p:cNvPr id="42" name="Text 40"/>
          <p:cNvSpPr/>
          <p:nvPr/>
        </p:nvSpPr>
        <p:spPr>
          <a:xfrm>
            <a:off x="457200" y="2029968"/>
            <a:ext cx="1417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 Night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1920240" y="2029968"/>
            <a:ext cx="1188720" cy="310896"/>
          </a:xfrm>
          <a:prstGeom prst="rect">
            <a:avLst/>
          </a:prstGeom>
          <a:solidFill>
            <a:srgbClr val="1C2333"/>
          </a:solidFill>
          <a:ln/>
        </p:spPr>
      </p:sp>
      <p:sp>
        <p:nvSpPr>
          <p:cNvPr id="44" name="Text 42"/>
          <p:cNvSpPr/>
          <p:nvPr/>
        </p:nvSpPr>
        <p:spPr>
          <a:xfrm>
            <a:off x="1965960" y="2029968"/>
            <a:ext cx="1143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1,677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3154680" y="2029968"/>
            <a:ext cx="1188720" cy="310896"/>
          </a:xfrm>
          <a:prstGeom prst="rect">
            <a:avLst/>
          </a:prstGeom>
          <a:solidFill>
            <a:srgbClr val="1C2333"/>
          </a:solidFill>
          <a:ln/>
        </p:spPr>
      </p:sp>
      <p:sp>
        <p:nvSpPr>
          <p:cNvPr id="46" name="Text 44"/>
          <p:cNvSpPr/>
          <p:nvPr/>
        </p:nvSpPr>
        <p:spPr>
          <a:xfrm>
            <a:off x="3200400" y="2029968"/>
            <a:ext cx="1143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8.83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4389120" y="2029968"/>
            <a:ext cx="1051560" cy="310896"/>
          </a:xfrm>
          <a:prstGeom prst="rect">
            <a:avLst/>
          </a:prstGeom>
          <a:solidFill>
            <a:srgbClr val="1C2333"/>
          </a:solidFill>
          <a:ln/>
        </p:spPr>
      </p:sp>
      <p:sp>
        <p:nvSpPr>
          <p:cNvPr id="48" name="Text 46"/>
          <p:cNvSpPr/>
          <p:nvPr/>
        </p:nvSpPr>
        <p:spPr>
          <a:xfrm>
            <a:off x="4434840" y="2029968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5486400" y="2029968"/>
            <a:ext cx="1051560" cy="310896"/>
          </a:xfrm>
          <a:prstGeom prst="rect">
            <a:avLst/>
          </a:prstGeom>
          <a:solidFill>
            <a:srgbClr val="1C2333"/>
          </a:solidFill>
          <a:ln/>
        </p:spPr>
      </p:sp>
      <p:sp>
        <p:nvSpPr>
          <p:cNvPr id="50" name="Text 48"/>
          <p:cNvSpPr/>
          <p:nvPr/>
        </p:nvSpPr>
        <p:spPr>
          <a:xfrm>
            <a:off x="5532120" y="2029968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6583680" y="2029968"/>
            <a:ext cx="777240" cy="310896"/>
          </a:xfrm>
          <a:prstGeom prst="rect">
            <a:avLst/>
          </a:prstGeom>
          <a:solidFill>
            <a:srgbClr val="1C2333"/>
          </a:solidFill>
          <a:ln/>
        </p:spPr>
      </p:sp>
      <p:sp>
        <p:nvSpPr>
          <p:cNvPr id="52" name="Text 50"/>
          <p:cNvSpPr/>
          <p:nvPr/>
        </p:nvSpPr>
        <p:spPr>
          <a:xfrm>
            <a:off x="6629400" y="2029968"/>
            <a:ext cx="731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190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411480" y="2359152"/>
            <a:ext cx="1463040" cy="310896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54" name="Text 52"/>
          <p:cNvSpPr/>
          <p:nvPr/>
        </p:nvSpPr>
        <p:spPr>
          <a:xfrm>
            <a:off x="457200" y="2359152"/>
            <a:ext cx="1417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Lunch</a:t>
            </a:r>
            <a:endParaRPr lang="en-US" sz="950" dirty="0"/>
          </a:p>
        </p:txBody>
      </p:sp>
      <p:sp>
        <p:nvSpPr>
          <p:cNvPr id="55" name="Shape 53"/>
          <p:cNvSpPr/>
          <p:nvPr/>
        </p:nvSpPr>
        <p:spPr>
          <a:xfrm>
            <a:off x="1920240" y="2359152"/>
            <a:ext cx="1188720" cy="310896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56" name="Text 54"/>
          <p:cNvSpPr/>
          <p:nvPr/>
        </p:nvSpPr>
        <p:spPr>
          <a:xfrm>
            <a:off x="1965960" y="2359152"/>
            <a:ext cx="1143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6,659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3154680" y="2359152"/>
            <a:ext cx="1188720" cy="310896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58" name="Text 56"/>
          <p:cNvSpPr/>
          <p:nvPr/>
        </p:nvSpPr>
        <p:spPr>
          <a:xfrm>
            <a:off x="3200400" y="2359152"/>
            <a:ext cx="1143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77.43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4389120" y="2359152"/>
            <a:ext cx="1051560" cy="310896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60" name="Text 58"/>
          <p:cNvSpPr/>
          <p:nvPr/>
        </p:nvSpPr>
        <p:spPr>
          <a:xfrm>
            <a:off x="4434840" y="2359152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182</a:t>
            </a:r>
            <a:endParaRPr lang="en-US" sz="900" dirty="0"/>
          </a:p>
        </p:txBody>
      </p:sp>
      <p:sp>
        <p:nvSpPr>
          <p:cNvPr id="61" name="Shape 59"/>
          <p:cNvSpPr/>
          <p:nvPr/>
        </p:nvSpPr>
        <p:spPr>
          <a:xfrm>
            <a:off x="5486400" y="2359152"/>
            <a:ext cx="1051560" cy="310896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62" name="Text 60"/>
          <p:cNvSpPr/>
          <p:nvPr/>
        </p:nvSpPr>
        <p:spPr>
          <a:xfrm>
            <a:off x="5532120" y="2359152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63" name="Shape 61"/>
          <p:cNvSpPr/>
          <p:nvPr/>
        </p:nvSpPr>
        <p:spPr>
          <a:xfrm>
            <a:off x="6583680" y="2359152"/>
            <a:ext cx="777240" cy="310896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64" name="Text 62"/>
          <p:cNvSpPr/>
          <p:nvPr/>
        </p:nvSpPr>
        <p:spPr>
          <a:xfrm>
            <a:off x="6629400" y="2359152"/>
            <a:ext cx="731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86</a:t>
            </a:r>
            <a:endParaRPr lang="en-US" sz="900" dirty="0"/>
          </a:p>
        </p:txBody>
      </p:sp>
      <p:sp>
        <p:nvSpPr>
          <p:cNvPr id="65" name="Shape 63"/>
          <p:cNvSpPr/>
          <p:nvPr/>
        </p:nvSpPr>
        <p:spPr>
          <a:xfrm>
            <a:off x="411480" y="2688336"/>
            <a:ext cx="1463040" cy="310896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66" name="Text 64"/>
          <p:cNvSpPr/>
          <p:nvPr/>
        </p:nvSpPr>
        <p:spPr>
          <a:xfrm>
            <a:off x="457200" y="2688336"/>
            <a:ext cx="1417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 Morning</a:t>
            </a:r>
            <a:endParaRPr lang="en-US" sz="950" dirty="0"/>
          </a:p>
        </p:txBody>
      </p:sp>
      <p:sp>
        <p:nvSpPr>
          <p:cNvPr id="67" name="Shape 65"/>
          <p:cNvSpPr/>
          <p:nvPr/>
        </p:nvSpPr>
        <p:spPr>
          <a:xfrm>
            <a:off x="1920240" y="2688336"/>
            <a:ext cx="1188720" cy="310896"/>
          </a:xfrm>
          <a:prstGeom prst="rect">
            <a:avLst/>
          </a:prstGeom>
          <a:solidFill>
            <a:srgbClr val="1C2333"/>
          </a:solidFill>
          <a:ln/>
        </p:spPr>
      </p:sp>
      <p:sp>
        <p:nvSpPr>
          <p:cNvPr id="68" name="Text 66"/>
          <p:cNvSpPr/>
          <p:nvPr/>
        </p:nvSpPr>
        <p:spPr>
          <a:xfrm>
            <a:off x="1965960" y="2688336"/>
            <a:ext cx="1143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4,747</a:t>
            </a:r>
            <a:endParaRPr lang="en-US" sz="900" dirty="0"/>
          </a:p>
        </p:txBody>
      </p:sp>
      <p:sp>
        <p:nvSpPr>
          <p:cNvPr id="69" name="Shape 67"/>
          <p:cNvSpPr/>
          <p:nvPr/>
        </p:nvSpPr>
        <p:spPr>
          <a:xfrm>
            <a:off x="3154680" y="2688336"/>
            <a:ext cx="1188720" cy="310896"/>
          </a:xfrm>
          <a:prstGeom prst="rect">
            <a:avLst/>
          </a:prstGeom>
          <a:solidFill>
            <a:srgbClr val="1C2333"/>
          </a:solidFill>
          <a:ln/>
        </p:spPr>
      </p:sp>
      <p:sp>
        <p:nvSpPr>
          <p:cNvPr id="70" name="Text 68"/>
          <p:cNvSpPr/>
          <p:nvPr/>
        </p:nvSpPr>
        <p:spPr>
          <a:xfrm>
            <a:off x="3200400" y="2688336"/>
            <a:ext cx="1143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56.51</a:t>
            </a:r>
            <a:endParaRPr lang="en-US" sz="900" dirty="0"/>
          </a:p>
        </p:txBody>
      </p:sp>
      <p:sp>
        <p:nvSpPr>
          <p:cNvPr id="71" name="Shape 69"/>
          <p:cNvSpPr/>
          <p:nvPr/>
        </p:nvSpPr>
        <p:spPr>
          <a:xfrm>
            <a:off x="4389120" y="2688336"/>
            <a:ext cx="1051560" cy="310896"/>
          </a:xfrm>
          <a:prstGeom prst="rect">
            <a:avLst/>
          </a:prstGeom>
          <a:solidFill>
            <a:srgbClr val="1C2333"/>
          </a:solidFill>
          <a:ln/>
        </p:spPr>
      </p:sp>
      <p:sp>
        <p:nvSpPr>
          <p:cNvPr id="72" name="Text 70"/>
          <p:cNvSpPr/>
          <p:nvPr/>
        </p:nvSpPr>
        <p:spPr>
          <a:xfrm>
            <a:off x="4434840" y="2688336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117</a:t>
            </a:r>
            <a:endParaRPr lang="en-US" sz="900" dirty="0"/>
          </a:p>
        </p:txBody>
      </p:sp>
      <p:sp>
        <p:nvSpPr>
          <p:cNvPr id="73" name="Shape 71"/>
          <p:cNvSpPr/>
          <p:nvPr/>
        </p:nvSpPr>
        <p:spPr>
          <a:xfrm>
            <a:off x="5486400" y="2688336"/>
            <a:ext cx="1051560" cy="310896"/>
          </a:xfrm>
          <a:prstGeom prst="rect">
            <a:avLst/>
          </a:prstGeom>
          <a:solidFill>
            <a:srgbClr val="1C2333"/>
          </a:solidFill>
          <a:ln/>
        </p:spPr>
      </p:sp>
      <p:sp>
        <p:nvSpPr>
          <p:cNvPr id="74" name="Text 72"/>
          <p:cNvSpPr/>
          <p:nvPr/>
        </p:nvSpPr>
        <p:spPr>
          <a:xfrm>
            <a:off x="5532120" y="2688336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900" dirty="0"/>
          </a:p>
        </p:txBody>
      </p:sp>
      <p:sp>
        <p:nvSpPr>
          <p:cNvPr id="75" name="Shape 73"/>
          <p:cNvSpPr/>
          <p:nvPr/>
        </p:nvSpPr>
        <p:spPr>
          <a:xfrm>
            <a:off x="6583680" y="2688336"/>
            <a:ext cx="777240" cy="310896"/>
          </a:xfrm>
          <a:prstGeom prst="rect">
            <a:avLst/>
          </a:prstGeom>
          <a:solidFill>
            <a:srgbClr val="1C2333"/>
          </a:solidFill>
          <a:ln/>
        </p:spPr>
      </p:sp>
      <p:sp>
        <p:nvSpPr>
          <p:cNvPr id="76" name="Text 74"/>
          <p:cNvSpPr/>
          <p:nvPr/>
        </p:nvSpPr>
        <p:spPr>
          <a:xfrm>
            <a:off x="6629400" y="2688336"/>
            <a:ext cx="731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84</a:t>
            </a:r>
            <a:endParaRPr lang="en-US" sz="900" dirty="0"/>
          </a:p>
        </p:txBody>
      </p:sp>
      <p:sp>
        <p:nvSpPr>
          <p:cNvPr id="77" name="Shape 75"/>
          <p:cNvSpPr/>
          <p:nvPr/>
        </p:nvSpPr>
        <p:spPr>
          <a:xfrm>
            <a:off x="411480" y="3017520"/>
            <a:ext cx="1463040" cy="310896"/>
          </a:xfrm>
          <a:prstGeom prst="rect">
            <a:avLst/>
          </a:prstGeom>
          <a:solidFill>
            <a:srgbClr val="0369A1"/>
          </a:solidFill>
          <a:ln/>
        </p:spPr>
      </p:sp>
      <p:sp>
        <p:nvSpPr>
          <p:cNvPr id="78" name="Text 76"/>
          <p:cNvSpPr/>
          <p:nvPr/>
        </p:nvSpPr>
        <p:spPr>
          <a:xfrm>
            <a:off x="457200" y="3017520"/>
            <a:ext cx="1417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Morning Rush</a:t>
            </a:r>
            <a:endParaRPr lang="en-US" sz="950" dirty="0"/>
          </a:p>
        </p:txBody>
      </p:sp>
      <p:sp>
        <p:nvSpPr>
          <p:cNvPr id="79" name="Shape 77"/>
          <p:cNvSpPr/>
          <p:nvPr/>
        </p:nvSpPr>
        <p:spPr>
          <a:xfrm>
            <a:off x="1920240" y="3017520"/>
            <a:ext cx="1188720" cy="310896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80" name="Text 78"/>
          <p:cNvSpPr/>
          <p:nvPr/>
        </p:nvSpPr>
        <p:spPr>
          <a:xfrm>
            <a:off x="1965960" y="3017520"/>
            <a:ext cx="1143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12,385</a:t>
            </a:r>
            <a:endParaRPr lang="en-US" sz="900" dirty="0"/>
          </a:p>
        </p:txBody>
      </p:sp>
      <p:sp>
        <p:nvSpPr>
          <p:cNvPr id="81" name="Shape 79"/>
          <p:cNvSpPr/>
          <p:nvPr/>
        </p:nvSpPr>
        <p:spPr>
          <a:xfrm>
            <a:off x="3154680" y="3017520"/>
            <a:ext cx="1188720" cy="310896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82" name="Text 80"/>
          <p:cNvSpPr/>
          <p:nvPr/>
        </p:nvSpPr>
        <p:spPr>
          <a:xfrm>
            <a:off x="3200400" y="3017520"/>
            <a:ext cx="1143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59.54</a:t>
            </a:r>
            <a:endParaRPr lang="en-US" sz="900" dirty="0"/>
          </a:p>
        </p:txBody>
      </p:sp>
      <p:sp>
        <p:nvSpPr>
          <p:cNvPr id="83" name="Shape 81"/>
          <p:cNvSpPr/>
          <p:nvPr/>
        </p:nvSpPr>
        <p:spPr>
          <a:xfrm>
            <a:off x="4389120" y="3017520"/>
            <a:ext cx="1051560" cy="310896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84" name="Text 82"/>
          <p:cNvSpPr/>
          <p:nvPr/>
        </p:nvSpPr>
        <p:spPr>
          <a:xfrm>
            <a:off x="4434840" y="3017520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249</a:t>
            </a:r>
            <a:endParaRPr lang="en-US" sz="900" dirty="0"/>
          </a:p>
        </p:txBody>
      </p:sp>
      <p:sp>
        <p:nvSpPr>
          <p:cNvPr id="85" name="Shape 83"/>
          <p:cNvSpPr/>
          <p:nvPr/>
        </p:nvSpPr>
        <p:spPr>
          <a:xfrm>
            <a:off x="5486400" y="3017520"/>
            <a:ext cx="1051560" cy="310896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86" name="Text 84"/>
          <p:cNvSpPr/>
          <p:nvPr/>
        </p:nvSpPr>
        <p:spPr>
          <a:xfrm>
            <a:off x="5532120" y="3017520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87" name="Shape 85"/>
          <p:cNvSpPr/>
          <p:nvPr/>
        </p:nvSpPr>
        <p:spPr>
          <a:xfrm>
            <a:off x="6583680" y="3017520"/>
            <a:ext cx="777240" cy="310896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88" name="Text 86"/>
          <p:cNvSpPr/>
          <p:nvPr/>
        </p:nvSpPr>
        <p:spPr>
          <a:xfrm>
            <a:off x="6629400" y="3017520"/>
            <a:ext cx="731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208</a:t>
            </a:r>
            <a:endParaRPr lang="en-US" sz="900" dirty="0"/>
          </a:p>
        </p:txBody>
      </p:sp>
      <p:sp>
        <p:nvSpPr>
          <p:cNvPr id="89" name="Shape 87"/>
          <p:cNvSpPr/>
          <p:nvPr/>
        </p:nvSpPr>
        <p:spPr>
          <a:xfrm>
            <a:off x="411480" y="3346704"/>
            <a:ext cx="1463040" cy="310896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90" name="Text 88"/>
          <p:cNvSpPr/>
          <p:nvPr/>
        </p:nvSpPr>
        <p:spPr>
          <a:xfrm>
            <a:off x="457200" y="3346704"/>
            <a:ext cx="1417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Night</a:t>
            </a:r>
            <a:endParaRPr lang="en-US" sz="950" dirty="0"/>
          </a:p>
        </p:txBody>
      </p:sp>
      <p:sp>
        <p:nvSpPr>
          <p:cNvPr id="91" name="Shape 89"/>
          <p:cNvSpPr/>
          <p:nvPr/>
        </p:nvSpPr>
        <p:spPr>
          <a:xfrm>
            <a:off x="1920240" y="3346704"/>
            <a:ext cx="1188720" cy="310896"/>
          </a:xfrm>
          <a:prstGeom prst="rect">
            <a:avLst/>
          </a:prstGeom>
          <a:solidFill>
            <a:srgbClr val="1C2333"/>
          </a:solidFill>
          <a:ln/>
        </p:spPr>
      </p:sp>
      <p:sp>
        <p:nvSpPr>
          <p:cNvPr id="92" name="Text 90"/>
          <p:cNvSpPr/>
          <p:nvPr/>
        </p:nvSpPr>
        <p:spPr>
          <a:xfrm>
            <a:off x="1965960" y="3346704"/>
            <a:ext cx="1143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7,243</a:t>
            </a:r>
            <a:endParaRPr lang="en-US" sz="900" dirty="0"/>
          </a:p>
        </p:txBody>
      </p:sp>
      <p:sp>
        <p:nvSpPr>
          <p:cNvPr id="93" name="Shape 91"/>
          <p:cNvSpPr/>
          <p:nvPr/>
        </p:nvSpPr>
        <p:spPr>
          <a:xfrm>
            <a:off x="3154680" y="3346704"/>
            <a:ext cx="1188720" cy="310896"/>
          </a:xfrm>
          <a:prstGeom prst="rect">
            <a:avLst/>
          </a:prstGeom>
          <a:solidFill>
            <a:srgbClr val="1C2333"/>
          </a:solidFill>
          <a:ln/>
        </p:spPr>
      </p:sp>
      <p:sp>
        <p:nvSpPr>
          <p:cNvPr id="94" name="Text 92"/>
          <p:cNvSpPr/>
          <p:nvPr/>
        </p:nvSpPr>
        <p:spPr>
          <a:xfrm>
            <a:off x="3200400" y="3346704"/>
            <a:ext cx="1143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42.11</a:t>
            </a:r>
            <a:endParaRPr lang="en-US" sz="900" dirty="0"/>
          </a:p>
        </p:txBody>
      </p:sp>
      <p:sp>
        <p:nvSpPr>
          <p:cNvPr id="95" name="Shape 93"/>
          <p:cNvSpPr/>
          <p:nvPr/>
        </p:nvSpPr>
        <p:spPr>
          <a:xfrm>
            <a:off x="4389120" y="3346704"/>
            <a:ext cx="1051560" cy="310896"/>
          </a:xfrm>
          <a:prstGeom prst="rect">
            <a:avLst/>
          </a:prstGeom>
          <a:solidFill>
            <a:srgbClr val="1C2333"/>
          </a:solidFill>
          <a:ln/>
        </p:spPr>
      </p:sp>
      <p:sp>
        <p:nvSpPr>
          <p:cNvPr id="96" name="Text 94"/>
          <p:cNvSpPr/>
          <p:nvPr/>
        </p:nvSpPr>
        <p:spPr>
          <a:xfrm>
            <a:off x="4434840" y="3346704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126</a:t>
            </a:r>
            <a:endParaRPr lang="en-US" sz="900" dirty="0"/>
          </a:p>
        </p:txBody>
      </p:sp>
      <p:sp>
        <p:nvSpPr>
          <p:cNvPr id="97" name="Shape 95"/>
          <p:cNvSpPr/>
          <p:nvPr/>
        </p:nvSpPr>
        <p:spPr>
          <a:xfrm>
            <a:off x="5486400" y="3346704"/>
            <a:ext cx="1051560" cy="310896"/>
          </a:xfrm>
          <a:prstGeom prst="rect">
            <a:avLst/>
          </a:prstGeom>
          <a:solidFill>
            <a:srgbClr val="1C2333"/>
          </a:solidFill>
          <a:ln/>
        </p:spPr>
      </p:sp>
      <p:sp>
        <p:nvSpPr>
          <p:cNvPr id="98" name="Text 96"/>
          <p:cNvSpPr/>
          <p:nvPr/>
        </p:nvSpPr>
        <p:spPr>
          <a:xfrm>
            <a:off x="5532120" y="3346704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99" name="Shape 97"/>
          <p:cNvSpPr/>
          <p:nvPr/>
        </p:nvSpPr>
        <p:spPr>
          <a:xfrm>
            <a:off x="6583680" y="3346704"/>
            <a:ext cx="777240" cy="310896"/>
          </a:xfrm>
          <a:prstGeom prst="rect">
            <a:avLst/>
          </a:prstGeom>
          <a:solidFill>
            <a:srgbClr val="1C2333"/>
          </a:solidFill>
          <a:ln/>
        </p:spPr>
      </p:sp>
      <p:sp>
        <p:nvSpPr>
          <p:cNvPr id="100" name="Text 98"/>
          <p:cNvSpPr/>
          <p:nvPr/>
        </p:nvSpPr>
        <p:spPr>
          <a:xfrm>
            <a:off x="6629400" y="3346704"/>
            <a:ext cx="731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172</a:t>
            </a:r>
            <a:endParaRPr lang="en-US" sz="900" dirty="0"/>
          </a:p>
        </p:txBody>
      </p:sp>
      <p:graphicFrame>
        <p:nvGraphicFramePr>
          <p:cNvPr id="101" name="Chart 0"/>
          <p:cNvGraphicFramePr/>
          <p:nvPr/>
        </p:nvGraphicFramePr>
        <p:xfrm>
          <a:off x="6812280" y="1005840"/>
          <a:ext cx="2103120" cy="35204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02" name="Shape 99"/>
          <p:cNvSpPr/>
          <p:nvPr/>
        </p:nvSpPr>
        <p:spPr>
          <a:xfrm>
            <a:off x="411480" y="4590288"/>
            <a:ext cx="8458200" cy="548640"/>
          </a:xfrm>
          <a:prstGeom prst="rect">
            <a:avLst/>
          </a:prstGeom>
          <a:solidFill>
            <a:srgbClr val="1C2333"/>
          </a:solidFill>
          <a:ln/>
          <a:effectLst>
            <a:outerShdw blurRad="127000" dist="381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103" name="Shape 100"/>
          <p:cNvSpPr/>
          <p:nvPr/>
        </p:nvSpPr>
        <p:spPr>
          <a:xfrm>
            <a:off x="411480" y="4590288"/>
            <a:ext cx="45720" cy="548640"/>
          </a:xfrm>
          <a:prstGeom prst="rect">
            <a:avLst/>
          </a:prstGeom>
          <a:solidFill>
            <a:srgbClr val="FB923C"/>
          </a:solidFill>
          <a:ln/>
        </p:spPr>
      </p:sp>
      <p:sp>
        <p:nvSpPr>
          <p:cNvPr id="104" name="Text 101"/>
          <p:cNvSpPr/>
          <p:nvPr/>
        </p:nvSpPr>
        <p:spPr>
          <a:xfrm>
            <a:off x="548640" y="4626864"/>
            <a:ext cx="8275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Evening Rush dominates with 116.25 avg/hr — 13× more than Late Night (8.83). Evening Rush + Morning Rush = 47.3% of all rentals despite covering only 6 of 24 hours. Grand Total: 58,304 rentals.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8321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Pivot 2 &amp; 3 — Weather Condition &amp; Day Type Analysis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11480" y="640080"/>
            <a:ext cx="8321040" cy="18288"/>
          </a:xfrm>
          <a:prstGeom prst="rect">
            <a:avLst/>
          </a:prstGeom>
          <a:solidFill>
            <a:srgbClr val="1C2333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676656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Sheet8 (Weather) · Sheet9 (Day Type) · Full dataset across all conditions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411480" y="960120"/>
            <a:ext cx="64008" cy="256032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6" name="Text 4"/>
          <p:cNvSpPr/>
          <p:nvPr/>
        </p:nvSpPr>
        <p:spPr>
          <a:xfrm>
            <a:off x="539496" y="9601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Pivot 2 — Demand by Weather Condition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11480" y="1261872"/>
            <a:ext cx="1463040" cy="274320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8" name="Text 6"/>
          <p:cNvSpPr/>
          <p:nvPr/>
        </p:nvSpPr>
        <p:spPr>
          <a:xfrm>
            <a:off x="411480" y="126187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Weather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1920240" y="1261872"/>
            <a:ext cx="1005840" cy="274320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10" name="Text 8"/>
          <p:cNvSpPr/>
          <p:nvPr/>
        </p:nvSpPr>
        <p:spPr>
          <a:xfrm>
            <a:off x="1920240" y="1261872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2971800" y="1261872"/>
            <a:ext cx="822960" cy="274320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12" name="Text 10"/>
          <p:cNvSpPr/>
          <p:nvPr/>
        </p:nvSpPr>
        <p:spPr>
          <a:xfrm>
            <a:off x="2971800" y="126187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Avg/Hr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3840480" y="1261872"/>
            <a:ext cx="822960" cy="274320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14" name="Text 12"/>
          <p:cNvSpPr/>
          <p:nvPr/>
        </p:nvSpPr>
        <p:spPr>
          <a:xfrm>
            <a:off x="3840480" y="126187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 Avg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4709160" y="1261872"/>
            <a:ext cx="822960" cy="274320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16" name="Text 14"/>
          <p:cNvSpPr/>
          <p:nvPr/>
        </p:nvSpPr>
        <p:spPr>
          <a:xfrm>
            <a:off x="4709160" y="126187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 Avg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5577840" y="1261872"/>
            <a:ext cx="685800" cy="274320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18" name="Text 16"/>
          <p:cNvSpPr/>
          <p:nvPr/>
        </p:nvSpPr>
        <p:spPr>
          <a:xfrm>
            <a:off x="5577840" y="1261872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411480" y="1563624"/>
            <a:ext cx="1463040" cy="27432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20" name="Text 18"/>
          <p:cNvSpPr/>
          <p:nvPr/>
        </p:nvSpPr>
        <p:spPr>
          <a:xfrm>
            <a:off x="411480" y="156362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1920240" y="1563624"/>
            <a:ext cx="1005840" cy="274320"/>
          </a:xfrm>
          <a:prstGeom prst="rect">
            <a:avLst/>
          </a:prstGeom>
          <a:solidFill>
            <a:srgbClr val="1C2333"/>
          </a:solidFill>
          <a:ln/>
        </p:spPr>
      </p:sp>
      <p:sp>
        <p:nvSpPr>
          <p:cNvPr id="22" name="Text 20"/>
          <p:cNvSpPr/>
          <p:nvPr/>
        </p:nvSpPr>
        <p:spPr>
          <a:xfrm>
            <a:off x="1920240" y="1563624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37,373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2971800" y="1563624"/>
            <a:ext cx="822960" cy="274320"/>
          </a:xfrm>
          <a:prstGeom prst="rect">
            <a:avLst/>
          </a:prstGeom>
          <a:solidFill>
            <a:srgbClr val="1C2333"/>
          </a:solidFill>
          <a:ln/>
        </p:spPr>
      </p:sp>
      <p:sp>
        <p:nvSpPr>
          <p:cNvPr id="24" name="Text 22"/>
          <p:cNvSpPr/>
          <p:nvPr/>
        </p:nvSpPr>
        <p:spPr>
          <a:xfrm>
            <a:off x="2971800" y="1563624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61.67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840480" y="1563624"/>
            <a:ext cx="822960" cy="274320"/>
          </a:xfrm>
          <a:prstGeom prst="rect">
            <a:avLst/>
          </a:prstGeom>
          <a:solidFill>
            <a:srgbClr val="1C2333"/>
          </a:solidFill>
          <a:ln/>
        </p:spPr>
      </p:sp>
      <p:sp>
        <p:nvSpPr>
          <p:cNvPr id="26" name="Text 24"/>
          <p:cNvSpPr/>
          <p:nvPr/>
        </p:nvSpPr>
        <p:spPr>
          <a:xfrm>
            <a:off x="3840480" y="1563624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5.30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4709160" y="1563624"/>
            <a:ext cx="822960" cy="274320"/>
          </a:xfrm>
          <a:prstGeom prst="rect">
            <a:avLst/>
          </a:prstGeom>
          <a:solidFill>
            <a:srgbClr val="1C2333"/>
          </a:solidFill>
          <a:ln/>
        </p:spPr>
      </p:sp>
      <p:sp>
        <p:nvSpPr>
          <p:cNvPr id="28" name="Text 26"/>
          <p:cNvSpPr/>
          <p:nvPr/>
        </p:nvSpPr>
        <p:spPr>
          <a:xfrm>
            <a:off x="4709160" y="1563624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56.37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5577840" y="1563624"/>
            <a:ext cx="685800" cy="274320"/>
          </a:xfrm>
          <a:prstGeom prst="rect">
            <a:avLst/>
          </a:prstGeom>
          <a:solidFill>
            <a:srgbClr val="1C2333"/>
          </a:solidFill>
          <a:ln/>
        </p:spPr>
      </p:sp>
      <p:sp>
        <p:nvSpPr>
          <p:cNvPr id="30" name="Text 28"/>
          <p:cNvSpPr/>
          <p:nvPr/>
        </p:nvSpPr>
        <p:spPr>
          <a:xfrm>
            <a:off x="5577840" y="1563624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606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411480" y="1856232"/>
            <a:ext cx="1463040" cy="274320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32" name="Text 30"/>
          <p:cNvSpPr/>
          <p:nvPr/>
        </p:nvSpPr>
        <p:spPr>
          <a:xfrm>
            <a:off x="411480" y="185623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Mist/Cloudy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1920240" y="1856232"/>
            <a:ext cx="1005840" cy="27432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34" name="Text 32"/>
          <p:cNvSpPr/>
          <p:nvPr/>
        </p:nvSpPr>
        <p:spPr>
          <a:xfrm>
            <a:off x="1920240" y="1856232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18,106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2971800" y="1856232"/>
            <a:ext cx="822960" cy="27432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36" name="Text 34"/>
          <p:cNvSpPr/>
          <p:nvPr/>
        </p:nvSpPr>
        <p:spPr>
          <a:xfrm>
            <a:off x="2971800" y="185623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58.60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3840480" y="1856232"/>
            <a:ext cx="822960" cy="27432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38" name="Text 36"/>
          <p:cNvSpPr/>
          <p:nvPr/>
        </p:nvSpPr>
        <p:spPr>
          <a:xfrm>
            <a:off x="3840480" y="185623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4.98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4709160" y="1856232"/>
            <a:ext cx="822960" cy="27432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40" name="Text 38"/>
          <p:cNvSpPr/>
          <p:nvPr/>
        </p:nvSpPr>
        <p:spPr>
          <a:xfrm>
            <a:off x="4709160" y="185623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53.62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5577840" y="1856232"/>
            <a:ext cx="685800" cy="27432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42" name="Text 40"/>
          <p:cNvSpPr/>
          <p:nvPr/>
        </p:nvSpPr>
        <p:spPr>
          <a:xfrm>
            <a:off x="5577840" y="1856232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309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411480" y="2148840"/>
            <a:ext cx="1463040" cy="274320"/>
          </a:xfrm>
          <a:prstGeom prst="rect">
            <a:avLst/>
          </a:prstGeom>
          <a:solidFill>
            <a:srgbClr val="60A5FA"/>
          </a:solidFill>
          <a:ln/>
        </p:spPr>
      </p:sp>
      <p:sp>
        <p:nvSpPr>
          <p:cNvPr id="44" name="Text 42"/>
          <p:cNvSpPr/>
          <p:nvPr/>
        </p:nvSpPr>
        <p:spPr>
          <a:xfrm>
            <a:off x="411480" y="214884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 Rain/Snow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1920240" y="2148840"/>
            <a:ext cx="1005840" cy="274320"/>
          </a:xfrm>
          <a:prstGeom prst="rect">
            <a:avLst/>
          </a:prstGeom>
          <a:solidFill>
            <a:srgbClr val="1C2333"/>
          </a:solidFill>
          <a:ln/>
        </p:spPr>
      </p:sp>
      <p:sp>
        <p:nvSpPr>
          <p:cNvPr id="46" name="Text 44"/>
          <p:cNvSpPr/>
          <p:nvPr/>
        </p:nvSpPr>
        <p:spPr>
          <a:xfrm>
            <a:off x="1920240" y="214884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2,789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2971800" y="2148840"/>
            <a:ext cx="822960" cy="274320"/>
          </a:xfrm>
          <a:prstGeom prst="rect">
            <a:avLst/>
          </a:prstGeom>
          <a:solidFill>
            <a:srgbClr val="1C2333"/>
          </a:solidFill>
          <a:ln/>
        </p:spPr>
      </p:sp>
      <p:sp>
        <p:nvSpPr>
          <p:cNvPr id="48" name="Text 46"/>
          <p:cNvSpPr/>
          <p:nvPr/>
        </p:nvSpPr>
        <p:spPr>
          <a:xfrm>
            <a:off x="2971800" y="214884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33.20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3840480" y="2148840"/>
            <a:ext cx="822960" cy="274320"/>
          </a:xfrm>
          <a:prstGeom prst="rect">
            <a:avLst/>
          </a:prstGeom>
          <a:solidFill>
            <a:srgbClr val="1C2333"/>
          </a:solidFill>
          <a:ln/>
        </p:spPr>
      </p:sp>
      <p:sp>
        <p:nvSpPr>
          <p:cNvPr id="50" name="Text 48"/>
          <p:cNvSpPr/>
          <p:nvPr/>
        </p:nvSpPr>
        <p:spPr>
          <a:xfrm>
            <a:off x="3840480" y="214884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2.04</a:t>
            </a:r>
            <a:endParaRPr lang="en-US" sz="850" dirty="0"/>
          </a:p>
        </p:txBody>
      </p:sp>
      <p:sp>
        <p:nvSpPr>
          <p:cNvPr id="51" name="Shape 49"/>
          <p:cNvSpPr/>
          <p:nvPr/>
        </p:nvSpPr>
        <p:spPr>
          <a:xfrm>
            <a:off x="4709160" y="2148840"/>
            <a:ext cx="822960" cy="274320"/>
          </a:xfrm>
          <a:prstGeom prst="rect">
            <a:avLst/>
          </a:prstGeom>
          <a:solidFill>
            <a:srgbClr val="1C2333"/>
          </a:solidFill>
          <a:ln/>
        </p:spPr>
      </p:sp>
      <p:sp>
        <p:nvSpPr>
          <p:cNvPr id="52" name="Text 50"/>
          <p:cNvSpPr/>
          <p:nvPr/>
        </p:nvSpPr>
        <p:spPr>
          <a:xfrm>
            <a:off x="4709160" y="214884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31.17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5577840" y="2148840"/>
            <a:ext cx="685800" cy="274320"/>
          </a:xfrm>
          <a:prstGeom prst="rect">
            <a:avLst/>
          </a:prstGeom>
          <a:solidFill>
            <a:srgbClr val="1C2333"/>
          </a:solidFill>
          <a:ln/>
        </p:spPr>
      </p:sp>
      <p:sp>
        <p:nvSpPr>
          <p:cNvPr id="54" name="Text 52"/>
          <p:cNvSpPr/>
          <p:nvPr/>
        </p:nvSpPr>
        <p:spPr>
          <a:xfrm>
            <a:off x="5577840" y="2148840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84</a:t>
            </a:r>
            <a:endParaRPr lang="en-US" sz="850" dirty="0"/>
          </a:p>
        </p:txBody>
      </p:sp>
      <p:sp>
        <p:nvSpPr>
          <p:cNvPr id="55" name="Shape 53"/>
          <p:cNvSpPr/>
          <p:nvPr/>
        </p:nvSpPr>
        <p:spPr>
          <a:xfrm>
            <a:off x="411480" y="2441448"/>
            <a:ext cx="1463040" cy="274320"/>
          </a:xfrm>
          <a:prstGeom prst="rect">
            <a:avLst/>
          </a:prstGeom>
          <a:solidFill>
            <a:srgbClr val="334155"/>
          </a:solidFill>
          <a:ln/>
        </p:spPr>
      </p:sp>
      <p:sp>
        <p:nvSpPr>
          <p:cNvPr id="56" name="Text 54"/>
          <p:cNvSpPr/>
          <p:nvPr/>
        </p:nvSpPr>
        <p:spPr>
          <a:xfrm>
            <a:off x="411480" y="244144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Heavy Rain/Snow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1920240" y="2441448"/>
            <a:ext cx="1005840" cy="27432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58" name="Text 56"/>
          <p:cNvSpPr/>
          <p:nvPr/>
        </p:nvSpPr>
        <p:spPr>
          <a:xfrm>
            <a:off x="1920240" y="244144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</a:t>
            </a:r>
            <a:endParaRPr lang="en-US" sz="850" dirty="0"/>
          </a:p>
        </p:txBody>
      </p:sp>
      <p:sp>
        <p:nvSpPr>
          <p:cNvPr id="59" name="Shape 57"/>
          <p:cNvSpPr/>
          <p:nvPr/>
        </p:nvSpPr>
        <p:spPr>
          <a:xfrm>
            <a:off x="2971800" y="2441448"/>
            <a:ext cx="822960" cy="27432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60" name="Text 58"/>
          <p:cNvSpPr/>
          <p:nvPr/>
        </p:nvSpPr>
        <p:spPr>
          <a:xfrm>
            <a:off x="2971800" y="2441448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36.00</a:t>
            </a:r>
            <a:endParaRPr lang="en-US" sz="850" dirty="0"/>
          </a:p>
        </p:txBody>
      </p:sp>
      <p:sp>
        <p:nvSpPr>
          <p:cNvPr id="61" name="Shape 59"/>
          <p:cNvSpPr/>
          <p:nvPr/>
        </p:nvSpPr>
        <p:spPr>
          <a:xfrm>
            <a:off x="3840480" y="2441448"/>
            <a:ext cx="822960" cy="27432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62" name="Text 60"/>
          <p:cNvSpPr/>
          <p:nvPr/>
        </p:nvSpPr>
        <p:spPr>
          <a:xfrm>
            <a:off x="3840480" y="2441448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1.00</a:t>
            </a:r>
            <a:endParaRPr lang="en-US" sz="850" dirty="0"/>
          </a:p>
        </p:txBody>
      </p:sp>
      <p:sp>
        <p:nvSpPr>
          <p:cNvPr id="63" name="Shape 61"/>
          <p:cNvSpPr/>
          <p:nvPr/>
        </p:nvSpPr>
        <p:spPr>
          <a:xfrm>
            <a:off x="4709160" y="2441448"/>
            <a:ext cx="822960" cy="27432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64" name="Text 62"/>
          <p:cNvSpPr/>
          <p:nvPr/>
        </p:nvSpPr>
        <p:spPr>
          <a:xfrm>
            <a:off x="4709160" y="2441448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35.00</a:t>
            </a:r>
            <a:endParaRPr lang="en-US" sz="850" dirty="0"/>
          </a:p>
        </p:txBody>
      </p:sp>
      <p:sp>
        <p:nvSpPr>
          <p:cNvPr id="65" name="Shape 63"/>
          <p:cNvSpPr/>
          <p:nvPr/>
        </p:nvSpPr>
        <p:spPr>
          <a:xfrm>
            <a:off x="5577840" y="2441448"/>
            <a:ext cx="685800" cy="27432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66" name="Text 64"/>
          <p:cNvSpPr/>
          <p:nvPr/>
        </p:nvSpPr>
        <p:spPr>
          <a:xfrm>
            <a:off x="5577840" y="2441448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850" dirty="0"/>
          </a:p>
        </p:txBody>
      </p:sp>
      <p:graphicFrame>
        <p:nvGraphicFramePr>
          <p:cNvPr id="67" name="Chart 0"/>
          <p:cNvGraphicFramePr/>
          <p:nvPr/>
        </p:nvGraphicFramePr>
        <p:xfrm>
          <a:off x="5897880" y="1207008"/>
          <a:ext cx="3017520" cy="20116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8" name="Shape 65"/>
          <p:cNvSpPr/>
          <p:nvPr/>
        </p:nvSpPr>
        <p:spPr>
          <a:xfrm>
            <a:off x="411480" y="3337560"/>
            <a:ext cx="64008" cy="256032"/>
          </a:xfrm>
          <a:prstGeom prst="rect">
            <a:avLst/>
          </a:prstGeom>
          <a:solidFill>
            <a:srgbClr val="818CF8"/>
          </a:solidFill>
          <a:ln/>
        </p:spPr>
      </p:sp>
      <p:sp>
        <p:nvSpPr>
          <p:cNvPr id="69" name="Text 66"/>
          <p:cNvSpPr/>
          <p:nvPr/>
        </p:nvSpPr>
        <p:spPr>
          <a:xfrm>
            <a:off x="539496" y="333756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Pivot 3 — Demand by Day Type &amp; Working Day</a:t>
            </a:r>
            <a:endParaRPr lang="en-US" sz="1200" dirty="0"/>
          </a:p>
        </p:txBody>
      </p:sp>
      <p:sp>
        <p:nvSpPr>
          <p:cNvPr id="70" name="Shape 67"/>
          <p:cNvSpPr/>
          <p:nvPr/>
        </p:nvSpPr>
        <p:spPr>
          <a:xfrm>
            <a:off x="411480" y="3630168"/>
            <a:ext cx="2011680" cy="274320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71" name="Text 68"/>
          <p:cNvSpPr/>
          <p:nvPr/>
        </p:nvSpPr>
        <p:spPr>
          <a:xfrm>
            <a:off x="411480" y="363016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</a:t>
            </a:r>
            <a:endParaRPr lang="en-US" sz="800" dirty="0"/>
          </a:p>
        </p:txBody>
      </p:sp>
      <p:sp>
        <p:nvSpPr>
          <p:cNvPr id="72" name="Shape 69"/>
          <p:cNvSpPr/>
          <p:nvPr/>
        </p:nvSpPr>
        <p:spPr>
          <a:xfrm>
            <a:off x="2468880" y="3630168"/>
            <a:ext cx="1143000" cy="274320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73" name="Text 70"/>
          <p:cNvSpPr/>
          <p:nvPr/>
        </p:nvSpPr>
        <p:spPr>
          <a:xfrm>
            <a:off x="2468880" y="3630168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Rentals</a:t>
            </a:r>
            <a:endParaRPr lang="en-US" sz="800" dirty="0"/>
          </a:p>
        </p:txBody>
      </p:sp>
      <p:sp>
        <p:nvSpPr>
          <p:cNvPr id="74" name="Shape 71"/>
          <p:cNvSpPr/>
          <p:nvPr/>
        </p:nvSpPr>
        <p:spPr>
          <a:xfrm>
            <a:off x="3657600" y="3630168"/>
            <a:ext cx="777240" cy="274320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75" name="Text 72"/>
          <p:cNvSpPr/>
          <p:nvPr/>
        </p:nvSpPr>
        <p:spPr>
          <a:xfrm>
            <a:off x="3657600" y="3630168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Avg/Hr</a:t>
            </a:r>
            <a:endParaRPr lang="en-US" sz="800" dirty="0"/>
          </a:p>
        </p:txBody>
      </p:sp>
      <p:sp>
        <p:nvSpPr>
          <p:cNvPr id="76" name="Shape 73"/>
          <p:cNvSpPr/>
          <p:nvPr/>
        </p:nvSpPr>
        <p:spPr>
          <a:xfrm>
            <a:off x="4480560" y="3630168"/>
            <a:ext cx="868680" cy="274320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77" name="Text 74"/>
          <p:cNvSpPr/>
          <p:nvPr/>
        </p:nvSpPr>
        <p:spPr>
          <a:xfrm>
            <a:off x="4480560" y="3630168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Casual Avg</a:t>
            </a:r>
            <a:endParaRPr lang="en-US" sz="800" dirty="0"/>
          </a:p>
        </p:txBody>
      </p:sp>
      <p:sp>
        <p:nvSpPr>
          <p:cNvPr id="78" name="Shape 75"/>
          <p:cNvSpPr/>
          <p:nvPr/>
        </p:nvSpPr>
        <p:spPr>
          <a:xfrm>
            <a:off x="5394960" y="3630168"/>
            <a:ext cx="868680" cy="274320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79" name="Text 76"/>
          <p:cNvSpPr/>
          <p:nvPr/>
        </p:nvSpPr>
        <p:spPr>
          <a:xfrm>
            <a:off x="5394960" y="3630168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 Avg</a:t>
            </a:r>
            <a:endParaRPr lang="en-US" sz="800" dirty="0"/>
          </a:p>
        </p:txBody>
      </p:sp>
      <p:sp>
        <p:nvSpPr>
          <p:cNvPr id="80" name="Shape 77"/>
          <p:cNvSpPr/>
          <p:nvPr/>
        </p:nvSpPr>
        <p:spPr>
          <a:xfrm>
            <a:off x="6309360" y="3630168"/>
            <a:ext cx="777240" cy="274320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81" name="Text 78"/>
          <p:cNvSpPr/>
          <p:nvPr/>
        </p:nvSpPr>
        <p:spPr>
          <a:xfrm>
            <a:off x="6309360" y="3630168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</a:t>
            </a:r>
            <a:endParaRPr lang="en-US" sz="800" dirty="0"/>
          </a:p>
        </p:txBody>
      </p:sp>
      <p:sp>
        <p:nvSpPr>
          <p:cNvPr id="82" name="Shape 79"/>
          <p:cNvSpPr/>
          <p:nvPr/>
        </p:nvSpPr>
        <p:spPr>
          <a:xfrm>
            <a:off x="411480" y="3931920"/>
            <a:ext cx="2011680" cy="274320"/>
          </a:xfrm>
          <a:prstGeom prst="rect">
            <a:avLst/>
          </a:prstGeom>
          <a:solidFill>
            <a:srgbClr val="1C2333"/>
          </a:solidFill>
          <a:ln/>
        </p:spPr>
      </p:sp>
      <p:sp>
        <p:nvSpPr>
          <p:cNvPr id="83" name="Text 80"/>
          <p:cNvSpPr/>
          <p:nvPr/>
        </p:nvSpPr>
        <p:spPr>
          <a:xfrm>
            <a:off x="411480" y="393192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47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Weekday — Non-Working</a:t>
            </a:r>
            <a:endParaRPr lang="en-US" sz="850" dirty="0"/>
          </a:p>
        </p:txBody>
      </p:sp>
      <p:sp>
        <p:nvSpPr>
          <p:cNvPr id="84" name="Shape 81"/>
          <p:cNvSpPr/>
          <p:nvPr/>
        </p:nvSpPr>
        <p:spPr>
          <a:xfrm>
            <a:off x="2468880" y="3931920"/>
            <a:ext cx="1143000" cy="274320"/>
          </a:xfrm>
          <a:prstGeom prst="rect">
            <a:avLst/>
          </a:prstGeom>
          <a:solidFill>
            <a:srgbClr val="1C2333"/>
          </a:solidFill>
          <a:ln/>
        </p:spPr>
      </p:sp>
      <p:sp>
        <p:nvSpPr>
          <p:cNvPr id="85" name="Text 82"/>
          <p:cNvSpPr/>
          <p:nvPr/>
        </p:nvSpPr>
        <p:spPr>
          <a:xfrm>
            <a:off x="2468880" y="3931920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1,000</a:t>
            </a:r>
            <a:endParaRPr lang="en-US" sz="850" dirty="0"/>
          </a:p>
        </p:txBody>
      </p:sp>
      <p:sp>
        <p:nvSpPr>
          <p:cNvPr id="86" name="Shape 83"/>
          <p:cNvSpPr/>
          <p:nvPr/>
        </p:nvSpPr>
        <p:spPr>
          <a:xfrm>
            <a:off x="3657600" y="3931920"/>
            <a:ext cx="777240" cy="274320"/>
          </a:xfrm>
          <a:prstGeom prst="rect">
            <a:avLst/>
          </a:prstGeom>
          <a:solidFill>
            <a:srgbClr val="1C2333"/>
          </a:solidFill>
          <a:ln/>
        </p:spPr>
      </p:sp>
      <p:sp>
        <p:nvSpPr>
          <p:cNvPr id="87" name="Text 84"/>
          <p:cNvSpPr/>
          <p:nvPr/>
        </p:nvSpPr>
        <p:spPr>
          <a:xfrm>
            <a:off x="3657600" y="393192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41.67</a:t>
            </a:r>
            <a:endParaRPr lang="en-US" sz="850" dirty="0"/>
          </a:p>
        </p:txBody>
      </p:sp>
      <p:sp>
        <p:nvSpPr>
          <p:cNvPr id="88" name="Shape 85"/>
          <p:cNvSpPr/>
          <p:nvPr/>
        </p:nvSpPr>
        <p:spPr>
          <a:xfrm>
            <a:off x="4480560" y="3931920"/>
            <a:ext cx="868680" cy="274320"/>
          </a:xfrm>
          <a:prstGeom prst="rect">
            <a:avLst/>
          </a:prstGeom>
          <a:solidFill>
            <a:srgbClr val="1C2333"/>
          </a:solidFill>
          <a:ln/>
        </p:spPr>
      </p:sp>
      <p:sp>
        <p:nvSpPr>
          <p:cNvPr id="89" name="Text 86"/>
          <p:cNvSpPr/>
          <p:nvPr/>
        </p:nvSpPr>
        <p:spPr>
          <a:xfrm>
            <a:off x="4480560" y="393192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4.88</a:t>
            </a:r>
            <a:endParaRPr lang="en-US" sz="850" dirty="0"/>
          </a:p>
        </p:txBody>
      </p:sp>
      <p:sp>
        <p:nvSpPr>
          <p:cNvPr id="90" name="Shape 87"/>
          <p:cNvSpPr/>
          <p:nvPr/>
        </p:nvSpPr>
        <p:spPr>
          <a:xfrm>
            <a:off x="5394960" y="3931920"/>
            <a:ext cx="868680" cy="274320"/>
          </a:xfrm>
          <a:prstGeom prst="rect">
            <a:avLst/>
          </a:prstGeom>
          <a:solidFill>
            <a:srgbClr val="1C2333"/>
          </a:solidFill>
          <a:ln/>
        </p:spPr>
      </p:sp>
      <p:sp>
        <p:nvSpPr>
          <p:cNvPr id="91" name="Text 88"/>
          <p:cNvSpPr/>
          <p:nvPr/>
        </p:nvSpPr>
        <p:spPr>
          <a:xfrm>
            <a:off x="5394960" y="393192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36.79</a:t>
            </a:r>
            <a:endParaRPr lang="en-US" sz="850" dirty="0"/>
          </a:p>
        </p:txBody>
      </p:sp>
      <p:sp>
        <p:nvSpPr>
          <p:cNvPr id="92" name="Shape 89"/>
          <p:cNvSpPr/>
          <p:nvPr/>
        </p:nvSpPr>
        <p:spPr>
          <a:xfrm>
            <a:off x="6309360" y="3931920"/>
            <a:ext cx="777240" cy="274320"/>
          </a:xfrm>
          <a:prstGeom prst="rect">
            <a:avLst/>
          </a:prstGeom>
          <a:solidFill>
            <a:srgbClr val="1C2333"/>
          </a:solidFill>
          <a:ln/>
        </p:spPr>
      </p:sp>
      <p:sp>
        <p:nvSpPr>
          <p:cNvPr id="93" name="Text 90"/>
          <p:cNvSpPr/>
          <p:nvPr/>
        </p:nvSpPr>
        <p:spPr>
          <a:xfrm>
            <a:off x="6309360" y="393192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850" dirty="0"/>
          </a:p>
        </p:txBody>
      </p:sp>
      <p:sp>
        <p:nvSpPr>
          <p:cNvPr id="94" name="Shape 91"/>
          <p:cNvSpPr/>
          <p:nvPr/>
        </p:nvSpPr>
        <p:spPr>
          <a:xfrm>
            <a:off x="411480" y="4224528"/>
            <a:ext cx="2011680" cy="27432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95" name="Text 92"/>
          <p:cNvSpPr/>
          <p:nvPr/>
        </p:nvSpPr>
        <p:spPr>
          <a:xfrm>
            <a:off x="411480" y="422452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Weekday — Working Day</a:t>
            </a:r>
            <a:endParaRPr lang="en-US" sz="850" dirty="0"/>
          </a:p>
        </p:txBody>
      </p:sp>
      <p:sp>
        <p:nvSpPr>
          <p:cNvPr id="96" name="Shape 93"/>
          <p:cNvSpPr/>
          <p:nvPr/>
        </p:nvSpPr>
        <p:spPr>
          <a:xfrm>
            <a:off x="2468880" y="4224528"/>
            <a:ext cx="1143000" cy="27432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97" name="Text 94"/>
          <p:cNvSpPr/>
          <p:nvPr/>
        </p:nvSpPr>
        <p:spPr>
          <a:xfrm>
            <a:off x="2468880" y="4224528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41,435</a:t>
            </a:r>
            <a:endParaRPr lang="en-US" sz="850" dirty="0"/>
          </a:p>
        </p:txBody>
      </p:sp>
      <p:sp>
        <p:nvSpPr>
          <p:cNvPr id="98" name="Shape 95"/>
          <p:cNvSpPr/>
          <p:nvPr/>
        </p:nvSpPr>
        <p:spPr>
          <a:xfrm>
            <a:off x="3657600" y="4224528"/>
            <a:ext cx="777240" cy="27432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99" name="Text 96"/>
          <p:cNvSpPr/>
          <p:nvPr/>
        </p:nvSpPr>
        <p:spPr>
          <a:xfrm>
            <a:off x="3657600" y="4224528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64.14</a:t>
            </a:r>
            <a:endParaRPr lang="en-US" sz="850" dirty="0"/>
          </a:p>
        </p:txBody>
      </p:sp>
      <p:sp>
        <p:nvSpPr>
          <p:cNvPr id="100" name="Shape 97"/>
          <p:cNvSpPr/>
          <p:nvPr/>
        </p:nvSpPr>
        <p:spPr>
          <a:xfrm>
            <a:off x="4480560" y="4224528"/>
            <a:ext cx="868680" cy="27432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101" name="Text 98"/>
          <p:cNvSpPr/>
          <p:nvPr/>
        </p:nvSpPr>
        <p:spPr>
          <a:xfrm>
            <a:off x="4480560" y="4224528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3.25</a:t>
            </a:r>
            <a:endParaRPr lang="en-US" sz="850" dirty="0"/>
          </a:p>
        </p:txBody>
      </p:sp>
      <p:sp>
        <p:nvSpPr>
          <p:cNvPr id="102" name="Shape 99"/>
          <p:cNvSpPr/>
          <p:nvPr/>
        </p:nvSpPr>
        <p:spPr>
          <a:xfrm>
            <a:off x="5394960" y="4224528"/>
            <a:ext cx="868680" cy="27432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103" name="Text 100"/>
          <p:cNvSpPr/>
          <p:nvPr/>
        </p:nvSpPr>
        <p:spPr>
          <a:xfrm>
            <a:off x="5394960" y="4224528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60.89</a:t>
            </a:r>
            <a:endParaRPr lang="en-US" sz="850" dirty="0"/>
          </a:p>
        </p:txBody>
      </p:sp>
      <p:sp>
        <p:nvSpPr>
          <p:cNvPr id="104" name="Shape 101"/>
          <p:cNvSpPr/>
          <p:nvPr/>
        </p:nvSpPr>
        <p:spPr>
          <a:xfrm>
            <a:off x="6309360" y="4224528"/>
            <a:ext cx="777240" cy="27432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105" name="Text 102"/>
          <p:cNvSpPr/>
          <p:nvPr/>
        </p:nvSpPr>
        <p:spPr>
          <a:xfrm>
            <a:off x="6309360" y="4224528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646</a:t>
            </a:r>
            <a:endParaRPr lang="en-US" sz="850" dirty="0"/>
          </a:p>
        </p:txBody>
      </p:sp>
      <p:sp>
        <p:nvSpPr>
          <p:cNvPr id="106" name="Shape 103"/>
          <p:cNvSpPr/>
          <p:nvPr/>
        </p:nvSpPr>
        <p:spPr>
          <a:xfrm>
            <a:off x="411480" y="4517136"/>
            <a:ext cx="2011680" cy="274320"/>
          </a:xfrm>
          <a:prstGeom prst="rect">
            <a:avLst/>
          </a:prstGeom>
          <a:solidFill>
            <a:srgbClr val="1C2333"/>
          </a:solidFill>
          <a:ln/>
        </p:spPr>
      </p:sp>
      <p:sp>
        <p:nvSpPr>
          <p:cNvPr id="107" name="Text 104"/>
          <p:cNvSpPr/>
          <p:nvPr/>
        </p:nvSpPr>
        <p:spPr>
          <a:xfrm>
            <a:off x="411480" y="4517136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B9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Weekend</a:t>
            </a:r>
            <a:endParaRPr lang="en-US" sz="850" dirty="0"/>
          </a:p>
        </p:txBody>
      </p:sp>
      <p:sp>
        <p:nvSpPr>
          <p:cNvPr id="108" name="Shape 105"/>
          <p:cNvSpPr/>
          <p:nvPr/>
        </p:nvSpPr>
        <p:spPr>
          <a:xfrm>
            <a:off x="2468880" y="4517136"/>
            <a:ext cx="1143000" cy="274320"/>
          </a:xfrm>
          <a:prstGeom prst="rect">
            <a:avLst/>
          </a:prstGeom>
          <a:solidFill>
            <a:srgbClr val="1C2333"/>
          </a:solidFill>
          <a:ln/>
        </p:spPr>
      </p:sp>
      <p:sp>
        <p:nvSpPr>
          <p:cNvPr id="109" name="Text 106"/>
          <p:cNvSpPr/>
          <p:nvPr/>
        </p:nvSpPr>
        <p:spPr>
          <a:xfrm>
            <a:off x="2468880" y="4517136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15,869</a:t>
            </a:r>
            <a:endParaRPr lang="en-US" sz="850" dirty="0"/>
          </a:p>
        </p:txBody>
      </p:sp>
      <p:sp>
        <p:nvSpPr>
          <p:cNvPr id="110" name="Shape 107"/>
          <p:cNvSpPr/>
          <p:nvPr/>
        </p:nvSpPr>
        <p:spPr>
          <a:xfrm>
            <a:off x="3657600" y="4517136"/>
            <a:ext cx="777240" cy="274320"/>
          </a:xfrm>
          <a:prstGeom prst="rect">
            <a:avLst/>
          </a:prstGeom>
          <a:solidFill>
            <a:srgbClr val="1C2333"/>
          </a:solidFill>
          <a:ln/>
        </p:spPr>
      </p:sp>
      <p:sp>
        <p:nvSpPr>
          <p:cNvPr id="111" name="Text 108"/>
          <p:cNvSpPr/>
          <p:nvPr/>
        </p:nvSpPr>
        <p:spPr>
          <a:xfrm>
            <a:off x="3657600" y="4517136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48.09</a:t>
            </a:r>
            <a:endParaRPr lang="en-US" sz="850" dirty="0"/>
          </a:p>
        </p:txBody>
      </p:sp>
      <p:sp>
        <p:nvSpPr>
          <p:cNvPr id="112" name="Shape 109"/>
          <p:cNvSpPr/>
          <p:nvPr/>
        </p:nvSpPr>
        <p:spPr>
          <a:xfrm>
            <a:off x="4480560" y="4517136"/>
            <a:ext cx="868680" cy="274320"/>
          </a:xfrm>
          <a:prstGeom prst="rect">
            <a:avLst/>
          </a:prstGeom>
          <a:solidFill>
            <a:srgbClr val="1C2333"/>
          </a:solidFill>
          <a:ln/>
        </p:spPr>
      </p:sp>
      <p:sp>
        <p:nvSpPr>
          <p:cNvPr id="113" name="Text 110"/>
          <p:cNvSpPr/>
          <p:nvPr/>
        </p:nvSpPr>
        <p:spPr>
          <a:xfrm>
            <a:off x="4480560" y="4517136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13.11</a:t>
            </a:r>
            <a:endParaRPr lang="en-US" sz="850" dirty="0"/>
          </a:p>
        </p:txBody>
      </p:sp>
      <p:sp>
        <p:nvSpPr>
          <p:cNvPr id="114" name="Shape 111"/>
          <p:cNvSpPr/>
          <p:nvPr/>
        </p:nvSpPr>
        <p:spPr>
          <a:xfrm>
            <a:off x="5394960" y="4517136"/>
            <a:ext cx="868680" cy="274320"/>
          </a:xfrm>
          <a:prstGeom prst="rect">
            <a:avLst/>
          </a:prstGeom>
          <a:solidFill>
            <a:srgbClr val="1C2333"/>
          </a:solidFill>
          <a:ln/>
        </p:spPr>
      </p:sp>
      <p:sp>
        <p:nvSpPr>
          <p:cNvPr id="115" name="Text 112"/>
          <p:cNvSpPr/>
          <p:nvPr/>
        </p:nvSpPr>
        <p:spPr>
          <a:xfrm>
            <a:off x="5394960" y="4517136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35.01</a:t>
            </a:r>
            <a:endParaRPr lang="en-US" sz="850" dirty="0"/>
          </a:p>
        </p:txBody>
      </p:sp>
      <p:sp>
        <p:nvSpPr>
          <p:cNvPr id="116" name="Shape 113"/>
          <p:cNvSpPr/>
          <p:nvPr/>
        </p:nvSpPr>
        <p:spPr>
          <a:xfrm>
            <a:off x="6309360" y="4517136"/>
            <a:ext cx="777240" cy="274320"/>
          </a:xfrm>
          <a:prstGeom prst="rect">
            <a:avLst/>
          </a:prstGeom>
          <a:solidFill>
            <a:srgbClr val="1C2333"/>
          </a:solidFill>
          <a:ln/>
        </p:spPr>
      </p:sp>
      <p:sp>
        <p:nvSpPr>
          <p:cNvPr id="117" name="Text 114"/>
          <p:cNvSpPr/>
          <p:nvPr/>
        </p:nvSpPr>
        <p:spPr>
          <a:xfrm>
            <a:off x="6309360" y="4517136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330</a:t>
            </a:r>
            <a:endParaRPr lang="en-US" sz="850" dirty="0"/>
          </a:p>
        </p:txBody>
      </p:sp>
      <p:sp>
        <p:nvSpPr>
          <p:cNvPr id="118" name="Shape 115"/>
          <p:cNvSpPr/>
          <p:nvPr/>
        </p:nvSpPr>
        <p:spPr>
          <a:xfrm>
            <a:off x="411480" y="4818888"/>
            <a:ext cx="8458200" cy="548640"/>
          </a:xfrm>
          <a:prstGeom prst="rect">
            <a:avLst/>
          </a:prstGeom>
          <a:solidFill>
            <a:srgbClr val="1C2333"/>
          </a:solidFill>
          <a:ln/>
          <a:effectLst>
            <a:outerShdw blurRad="127000" dist="381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119" name="Shape 116"/>
          <p:cNvSpPr/>
          <p:nvPr/>
        </p:nvSpPr>
        <p:spPr>
          <a:xfrm>
            <a:off x="411480" y="4818888"/>
            <a:ext cx="45720" cy="548640"/>
          </a:xfrm>
          <a:prstGeom prst="rect">
            <a:avLst/>
          </a:prstGeom>
          <a:solidFill>
            <a:srgbClr val="818CF8"/>
          </a:solidFill>
          <a:ln/>
        </p:spPr>
      </p:sp>
      <p:sp>
        <p:nvSpPr>
          <p:cNvPr id="120" name="Text 117"/>
          <p:cNvSpPr/>
          <p:nvPr/>
        </p:nvSpPr>
        <p:spPr>
          <a:xfrm>
            <a:off x="548640" y="4855464"/>
            <a:ext cx="8275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Clear weather = 60.6% of all hours yet drives the highest avg (61.67/hr). Rain drops demand 46%. Working Weekdays = 71% of total demand (41,435 rentals). Weekends = higher casual ratio (leisure riders).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8321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Pivot 4 &amp; 6 — Temperature &amp; User Type Analysis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11480" y="640080"/>
            <a:ext cx="8321040" cy="18288"/>
          </a:xfrm>
          <a:prstGeom prst="rect">
            <a:avLst/>
          </a:prstGeom>
          <a:solidFill>
            <a:srgbClr val="1C2333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676656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Sheet10 (Temperature) · Sheet12 (Casual vs Registered by Hour Period)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411480" y="960120"/>
            <a:ext cx="64008" cy="256032"/>
          </a:xfrm>
          <a:prstGeom prst="rect">
            <a:avLst/>
          </a:prstGeom>
          <a:solidFill>
            <a:srgbClr val="FB923C"/>
          </a:solidFill>
          <a:ln/>
        </p:spPr>
      </p:sp>
      <p:sp>
        <p:nvSpPr>
          <p:cNvPr id="6" name="Text 4"/>
          <p:cNvSpPr/>
          <p:nvPr/>
        </p:nvSpPr>
        <p:spPr>
          <a:xfrm>
            <a:off x="539496" y="9601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B9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Pivot 4 — Demand by Temperature Category</a:t>
            </a:r>
            <a:endParaRPr lang="en-US" sz="1200" dirty="0"/>
          </a:p>
        </p:txBody>
      </p:sp>
      <p:graphicFrame>
        <p:nvGraphicFramePr>
          <p:cNvPr id="7" name="Chart 0"/>
          <p:cNvGraphicFramePr/>
          <p:nvPr/>
        </p:nvGraphicFramePr>
        <p:xfrm>
          <a:off x="411480" y="1261872"/>
          <a:ext cx="3200400" cy="1828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Shape 5"/>
          <p:cNvSpPr/>
          <p:nvPr/>
        </p:nvSpPr>
        <p:spPr>
          <a:xfrm>
            <a:off x="3794760" y="1261872"/>
            <a:ext cx="2011680" cy="1828800"/>
          </a:xfrm>
          <a:prstGeom prst="rect">
            <a:avLst/>
          </a:prstGeom>
          <a:solidFill>
            <a:srgbClr val="161B22"/>
          </a:solidFill>
          <a:ln/>
          <a:effectLst>
            <a:outerShdw blurRad="127000" dist="381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3794760" y="1261872"/>
            <a:ext cx="2011680" cy="4572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10" name="Text 7"/>
          <p:cNvSpPr/>
          <p:nvPr/>
        </p:nvSpPr>
        <p:spPr>
          <a:xfrm>
            <a:off x="3931920" y="135331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Cold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3931920" y="1700784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41,369 total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3931920" y="1956816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779 records (78%)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3931920" y="221284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53.11 avg/hr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0" y="0"/>
            <a:ext cx="6858000" cy="0"/>
          </a:xfrm>
          <a:prstGeom prst="rect">
            <a:avLst/>
          </a:prstGeom>
          <a:solidFill>
            <a:srgbClr val="00000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000000"/>
                </a:solidFill>
              </a:rPr>
              <a:t>+44% vs Cold</a:t>
            </a:r>
            <a:endParaRPr lang="en-US" dirty="0"/>
          </a:p>
        </p:txBody>
      </p:sp>
      <p:sp>
        <p:nvSpPr>
          <p:cNvPr id="15" name="Shape 12"/>
          <p:cNvSpPr/>
          <p:nvPr/>
        </p:nvSpPr>
        <p:spPr>
          <a:xfrm>
            <a:off x="6035040" y="1261872"/>
            <a:ext cx="2011680" cy="1828800"/>
          </a:xfrm>
          <a:prstGeom prst="rect">
            <a:avLst/>
          </a:prstGeom>
          <a:solidFill>
            <a:srgbClr val="161B22"/>
          </a:solidFill>
          <a:ln/>
          <a:effectLst>
            <a:outerShdw blurRad="127000" dist="381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6035040" y="1261872"/>
            <a:ext cx="2011680" cy="45720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17" name="Text 14"/>
          <p:cNvSpPr/>
          <p:nvPr/>
        </p:nvSpPr>
        <p:spPr>
          <a:xfrm>
            <a:off x="6172200" y="135331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Mild</a:t>
            </a:r>
            <a:endParaRPr lang="en-US" sz="1800" dirty="0"/>
          </a:p>
        </p:txBody>
      </p:sp>
      <p:sp>
        <p:nvSpPr>
          <p:cNvPr id="18" name="Text 15"/>
          <p:cNvSpPr/>
          <p:nvPr/>
        </p:nvSpPr>
        <p:spPr>
          <a:xfrm>
            <a:off x="6172200" y="1700784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16,935 total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6172200" y="1956816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221 records (22%)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6172200" y="221284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76.63 avg/hr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0" y="0"/>
            <a:ext cx="6858000" cy="0"/>
          </a:xfrm>
          <a:prstGeom prst="rect">
            <a:avLst/>
          </a:prstGeom>
          <a:solidFill>
            <a:srgbClr val="00000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000000"/>
                </a:solidFill>
              </a:rPr>
              <a:t>+44% vs Cold</a:t>
            </a:r>
            <a:endParaRPr lang="en-US" dirty="0"/>
          </a:p>
        </p:txBody>
      </p:sp>
      <p:sp>
        <p:nvSpPr>
          <p:cNvPr id="22" name="Text 19"/>
          <p:cNvSpPr/>
          <p:nvPr/>
        </p:nvSpPr>
        <p:spPr>
          <a:xfrm>
            <a:off x="5303520" y="265176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i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+44% uplift →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411480" y="3246120"/>
            <a:ext cx="64008" cy="256032"/>
          </a:xfrm>
          <a:prstGeom prst="rect">
            <a:avLst/>
          </a:prstGeom>
          <a:solidFill>
            <a:srgbClr val="818CF8"/>
          </a:solidFill>
          <a:ln/>
        </p:spPr>
      </p:sp>
      <p:sp>
        <p:nvSpPr>
          <p:cNvPr id="24" name="Text 21"/>
          <p:cNvSpPr/>
          <p:nvPr/>
        </p:nvSpPr>
        <p:spPr>
          <a:xfrm>
            <a:off x="539496" y="32461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Pivot 6 — Casual vs Registered by Hour Period (Source: Sheet12)</a:t>
            </a:r>
            <a:endParaRPr lang="en-US" sz="1200" dirty="0"/>
          </a:p>
        </p:txBody>
      </p:sp>
      <p:graphicFrame>
        <p:nvGraphicFramePr>
          <p:cNvPr id="25" name="Chart 1"/>
          <p:cNvGraphicFramePr/>
          <p:nvPr/>
        </p:nvGraphicFramePr>
        <p:xfrm>
          <a:off x="411480" y="3547872"/>
          <a:ext cx="8458200" cy="15544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26" name="Shape 22"/>
          <p:cNvSpPr/>
          <p:nvPr/>
        </p:nvSpPr>
        <p:spPr>
          <a:xfrm>
            <a:off x="411480" y="5056632"/>
            <a:ext cx="8458200" cy="548640"/>
          </a:xfrm>
          <a:prstGeom prst="rect">
            <a:avLst/>
          </a:prstGeom>
          <a:solidFill>
            <a:srgbClr val="1C2333"/>
          </a:solidFill>
          <a:ln/>
          <a:effectLst>
            <a:outerShdw blurRad="127000" dist="381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27" name="Shape 23"/>
          <p:cNvSpPr/>
          <p:nvPr/>
        </p:nvSpPr>
        <p:spPr>
          <a:xfrm>
            <a:off x="411480" y="5056632"/>
            <a:ext cx="45720" cy="548640"/>
          </a:xfrm>
          <a:prstGeom prst="rect">
            <a:avLst/>
          </a:prstGeom>
          <a:solidFill>
            <a:srgbClr val="FB923C"/>
          </a:solidFill>
          <a:ln/>
        </p:spPr>
      </p:sp>
      <p:sp>
        <p:nvSpPr>
          <p:cNvPr id="28" name="Text 24"/>
          <p:cNvSpPr/>
          <p:nvPr/>
        </p:nvSpPr>
        <p:spPr>
          <a:xfrm>
            <a:off x="548640" y="5093208"/>
            <a:ext cx="8275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Mild temp (76.63/hr) is +44% higher than Cold (53.11/hr). Registered users = 53,383 (91.6%) vs Casual = 4,921 (8.4%). Morning Rush: 96.9% registered. Grand Total: 58,304 rentals.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8321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Pivot 5 — Demand Heatmap: Hour × Day of Week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11480" y="640080"/>
            <a:ext cx="8321040" cy="18288"/>
          </a:xfrm>
          <a:prstGeom prst="rect">
            <a:avLst/>
          </a:prstGeom>
          <a:solidFill>
            <a:srgbClr val="1C2333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676656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Sheet11  ·  Avg rentals per cell  ·  Peak: Thu/Tue at 08:00 = 207.2 rentals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347472" y="960120"/>
            <a:ext cx="822960" cy="256032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6" name="Text 4"/>
          <p:cNvSpPr/>
          <p:nvPr/>
        </p:nvSpPr>
        <p:spPr>
          <a:xfrm>
            <a:off x="347472" y="96012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1261872" y="960120"/>
            <a:ext cx="1078992" cy="25603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8" name="Text 6"/>
          <p:cNvSpPr/>
          <p:nvPr/>
        </p:nvSpPr>
        <p:spPr>
          <a:xfrm>
            <a:off x="1261872" y="960120"/>
            <a:ext cx="10789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377440" y="960120"/>
            <a:ext cx="1078992" cy="25603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0" name="Text 8"/>
          <p:cNvSpPr/>
          <p:nvPr/>
        </p:nvSpPr>
        <p:spPr>
          <a:xfrm>
            <a:off x="2377440" y="960120"/>
            <a:ext cx="10789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Tue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493008" y="960120"/>
            <a:ext cx="1078992" cy="25603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2" name="Text 10"/>
          <p:cNvSpPr/>
          <p:nvPr/>
        </p:nvSpPr>
        <p:spPr>
          <a:xfrm>
            <a:off x="3493008" y="960120"/>
            <a:ext cx="10789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Wed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608576" y="960120"/>
            <a:ext cx="1078992" cy="25603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4" name="Text 12"/>
          <p:cNvSpPr/>
          <p:nvPr/>
        </p:nvSpPr>
        <p:spPr>
          <a:xfrm>
            <a:off x="4608576" y="960120"/>
            <a:ext cx="10789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Thu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5724144" y="960120"/>
            <a:ext cx="1078992" cy="25603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6" name="Text 14"/>
          <p:cNvSpPr/>
          <p:nvPr/>
        </p:nvSpPr>
        <p:spPr>
          <a:xfrm>
            <a:off x="5724144" y="960120"/>
            <a:ext cx="10789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Fri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839712" y="960120"/>
            <a:ext cx="1078992" cy="256032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8" name="Text 16"/>
          <p:cNvSpPr/>
          <p:nvPr/>
        </p:nvSpPr>
        <p:spPr>
          <a:xfrm>
            <a:off x="6839712" y="960120"/>
            <a:ext cx="10789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7955280" y="960120"/>
            <a:ext cx="1078992" cy="256032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0" name="Text 18"/>
          <p:cNvSpPr/>
          <p:nvPr/>
        </p:nvSpPr>
        <p:spPr>
          <a:xfrm>
            <a:off x="7955280" y="960120"/>
            <a:ext cx="10789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47472" y="1252728"/>
            <a:ext cx="822960" cy="292608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1252728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00:00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1261872" y="1252728"/>
            <a:ext cx="1078992" cy="292608"/>
          </a:xfrm>
          <a:prstGeom prst="rect">
            <a:avLst/>
          </a:prstGeom>
          <a:solidFill>
            <a:srgbClr val="15284F"/>
          </a:solidFill>
          <a:ln/>
        </p:spPr>
      </p:sp>
      <p:sp>
        <p:nvSpPr>
          <p:cNvPr id="24" name="Text 22"/>
          <p:cNvSpPr/>
          <p:nvPr/>
        </p:nvSpPr>
        <p:spPr>
          <a:xfrm>
            <a:off x="1261872" y="1252728"/>
            <a:ext cx="10789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2377440" y="1252728"/>
            <a:ext cx="1078992" cy="292608"/>
          </a:xfrm>
          <a:prstGeom prst="rect">
            <a:avLst/>
          </a:prstGeom>
          <a:solidFill>
            <a:srgbClr val="14274D"/>
          </a:solidFill>
          <a:ln/>
        </p:spPr>
      </p:sp>
      <p:sp>
        <p:nvSpPr>
          <p:cNvPr id="26" name="Text 24"/>
          <p:cNvSpPr/>
          <p:nvPr/>
        </p:nvSpPr>
        <p:spPr>
          <a:xfrm>
            <a:off x="2377440" y="1252728"/>
            <a:ext cx="10789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750" dirty="0"/>
          </a:p>
        </p:txBody>
      </p:sp>
      <p:sp>
        <p:nvSpPr>
          <p:cNvPr id="27" name="Shape 25"/>
          <p:cNvSpPr/>
          <p:nvPr/>
        </p:nvSpPr>
        <p:spPr>
          <a:xfrm>
            <a:off x="3493008" y="1252728"/>
            <a:ext cx="1078992" cy="292608"/>
          </a:xfrm>
          <a:prstGeom prst="rect">
            <a:avLst/>
          </a:prstGeom>
          <a:solidFill>
            <a:srgbClr val="14264D"/>
          </a:solidFill>
          <a:ln/>
        </p:spPr>
      </p:sp>
      <p:sp>
        <p:nvSpPr>
          <p:cNvPr id="28" name="Text 26"/>
          <p:cNvSpPr/>
          <p:nvPr/>
        </p:nvSpPr>
        <p:spPr>
          <a:xfrm>
            <a:off x="3493008" y="1252728"/>
            <a:ext cx="10789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750" dirty="0"/>
          </a:p>
        </p:txBody>
      </p:sp>
      <p:sp>
        <p:nvSpPr>
          <p:cNvPr id="29" name="Shape 27"/>
          <p:cNvSpPr/>
          <p:nvPr/>
        </p:nvSpPr>
        <p:spPr>
          <a:xfrm>
            <a:off x="4608576" y="1252728"/>
            <a:ext cx="1078992" cy="292608"/>
          </a:xfrm>
          <a:prstGeom prst="rect">
            <a:avLst/>
          </a:prstGeom>
          <a:solidFill>
            <a:srgbClr val="162B53"/>
          </a:solidFill>
          <a:ln/>
        </p:spPr>
      </p:sp>
      <p:sp>
        <p:nvSpPr>
          <p:cNvPr id="30" name="Text 28"/>
          <p:cNvSpPr/>
          <p:nvPr/>
        </p:nvSpPr>
        <p:spPr>
          <a:xfrm>
            <a:off x="4608576" y="1252728"/>
            <a:ext cx="10789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750" dirty="0"/>
          </a:p>
        </p:txBody>
      </p:sp>
      <p:sp>
        <p:nvSpPr>
          <p:cNvPr id="31" name="Shape 29"/>
          <p:cNvSpPr/>
          <p:nvPr/>
        </p:nvSpPr>
        <p:spPr>
          <a:xfrm>
            <a:off x="5724144" y="1252728"/>
            <a:ext cx="1078992" cy="292608"/>
          </a:xfrm>
          <a:prstGeom prst="rect">
            <a:avLst/>
          </a:prstGeom>
          <a:solidFill>
            <a:srgbClr val="183058"/>
          </a:solidFill>
          <a:ln/>
        </p:spPr>
      </p:sp>
      <p:sp>
        <p:nvSpPr>
          <p:cNvPr id="32" name="Text 30"/>
          <p:cNvSpPr/>
          <p:nvPr/>
        </p:nvSpPr>
        <p:spPr>
          <a:xfrm>
            <a:off x="5724144" y="1252728"/>
            <a:ext cx="10789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750" dirty="0"/>
          </a:p>
        </p:txBody>
      </p:sp>
      <p:sp>
        <p:nvSpPr>
          <p:cNvPr id="33" name="Shape 31"/>
          <p:cNvSpPr/>
          <p:nvPr/>
        </p:nvSpPr>
        <p:spPr>
          <a:xfrm>
            <a:off x="6839712" y="1252728"/>
            <a:ext cx="1078992" cy="292608"/>
          </a:xfrm>
          <a:prstGeom prst="rect">
            <a:avLst/>
          </a:prstGeom>
          <a:solidFill>
            <a:srgbClr val="1E416D"/>
          </a:solidFill>
          <a:ln/>
        </p:spPr>
      </p:sp>
      <p:sp>
        <p:nvSpPr>
          <p:cNvPr id="34" name="Text 32"/>
          <p:cNvSpPr/>
          <p:nvPr/>
        </p:nvSpPr>
        <p:spPr>
          <a:xfrm>
            <a:off x="6839712" y="1252728"/>
            <a:ext cx="10789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750" dirty="0"/>
          </a:p>
        </p:txBody>
      </p:sp>
      <p:sp>
        <p:nvSpPr>
          <p:cNvPr id="35" name="Shape 33"/>
          <p:cNvSpPr/>
          <p:nvPr/>
        </p:nvSpPr>
        <p:spPr>
          <a:xfrm>
            <a:off x="7955280" y="1252728"/>
            <a:ext cx="1078992" cy="292608"/>
          </a:xfrm>
          <a:prstGeom prst="rect">
            <a:avLst/>
          </a:prstGeom>
          <a:solidFill>
            <a:srgbClr val="214877"/>
          </a:solidFill>
          <a:ln/>
        </p:spPr>
      </p:sp>
      <p:sp>
        <p:nvSpPr>
          <p:cNvPr id="36" name="Text 34"/>
          <p:cNvSpPr/>
          <p:nvPr/>
        </p:nvSpPr>
        <p:spPr>
          <a:xfrm>
            <a:off x="7955280" y="1252728"/>
            <a:ext cx="10789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</a:t>
            </a:r>
            <a:endParaRPr lang="en-US" sz="750" dirty="0"/>
          </a:p>
        </p:txBody>
      </p:sp>
      <p:sp>
        <p:nvSpPr>
          <p:cNvPr id="37" name="Shape 35"/>
          <p:cNvSpPr/>
          <p:nvPr/>
        </p:nvSpPr>
        <p:spPr>
          <a:xfrm>
            <a:off x="347472" y="1563624"/>
            <a:ext cx="822960" cy="292608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38" name="Text 36"/>
          <p:cNvSpPr/>
          <p:nvPr/>
        </p:nvSpPr>
        <p:spPr>
          <a:xfrm>
            <a:off x="347472" y="1563624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01:00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1261872" y="1563624"/>
            <a:ext cx="1078992" cy="292608"/>
          </a:xfrm>
          <a:prstGeom prst="rect">
            <a:avLst/>
          </a:prstGeom>
          <a:solidFill>
            <a:srgbClr val="122247"/>
          </a:solidFill>
          <a:ln/>
        </p:spPr>
      </p:sp>
      <p:sp>
        <p:nvSpPr>
          <p:cNvPr id="40" name="Text 38"/>
          <p:cNvSpPr/>
          <p:nvPr/>
        </p:nvSpPr>
        <p:spPr>
          <a:xfrm>
            <a:off x="1261872" y="1563624"/>
            <a:ext cx="10789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750" dirty="0"/>
          </a:p>
        </p:txBody>
      </p:sp>
      <p:sp>
        <p:nvSpPr>
          <p:cNvPr id="41" name="Shape 39"/>
          <p:cNvSpPr/>
          <p:nvPr/>
        </p:nvSpPr>
        <p:spPr>
          <a:xfrm>
            <a:off x="2377440" y="1563624"/>
            <a:ext cx="1078992" cy="292608"/>
          </a:xfrm>
          <a:prstGeom prst="rect">
            <a:avLst/>
          </a:prstGeom>
          <a:solidFill>
            <a:srgbClr val="111E43"/>
          </a:solidFill>
          <a:ln/>
        </p:spPr>
      </p:sp>
      <p:sp>
        <p:nvSpPr>
          <p:cNvPr id="42" name="Text 40"/>
          <p:cNvSpPr/>
          <p:nvPr/>
        </p:nvSpPr>
        <p:spPr>
          <a:xfrm>
            <a:off x="2377440" y="1563624"/>
            <a:ext cx="10789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750" dirty="0"/>
          </a:p>
        </p:txBody>
      </p:sp>
      <p:sp>
        <p:nvSpPr>
          <p:cNvPr id="43" name="Shape 41"/>
          <p:cNvSpPr/>
          <p:nvPr/>
        </p:nvSpPr>
        <p:spPr>
          <a:xfrm>
            <a:off x="3493008" y="1563624"/>
            <a:ext cx="1078992" cy="292608"/>
          </a:xfrm>
          <a:prstGeom prst="rect">
            <a:avLst/>
          </a:prstGeom>
          <a:solidFill>
            <a:srgbClr val="122247"/>
          </a:solidFill>
          <a:ln/>
        </p:spPr>
      </p:sp>
      <p:sp>
        <p:nvSpPr>
          <p:cNvPr id="44" name="Text 42"/>
          <p:cNvSpPr/>
          <p:nvPr/>
        </p:nvSpPr>
        <p:spPr>
          <a:xfrm>
            <a:off x="3493008" y="1563624"/>
            <a:ext cx="10789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750" dirty="0"/>
          </a:p>
        </p:txBody>
      </p:sp>
      <p:sp>
        <p:nvSpPr>
          <p:cNvPr id="45" name="Shape 43"/>
          <p:cNvSpPr/>
          <p:nvPr/>
        </p:nvSpPr>
        <p:spPr>
          <a:xfrm>
            <a:off x="4608576" y="1563624"/>
            <a:ext cx="1078992" cy="292608"/>
          </a:xfrm>
          <a:prstGeom prst="rect">
            <a:avLst/>
          </a:prstGeom>
          <a:solidFill>
            <a:srgbClr val="122045"/>
          </a:solidFill>
          <a:ln/>
        </p:spPr>
      </p:sp>
      <p:sp>
        <p:nvSpPr>
          <p:cNvPr id="46" name="Text 44"/>
          <p:cNvSpPr/>
          <p:nvPr/>
        </p:nvSpPr>
        <p:spPr>
          <a:xfrm>
            <a:off x="4608576" y="1563624"/>
            <a:ext cx="10789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750" dirty="0"/>
          </a:p>
        </p:txBody>
      </p:sp>
      <p:sp>
        <p:nvSpPr>
          <p:cNvPr id="47" name="Shape 45"/>
          <p:cNvSpPr/>
          <p:nvPr/>
        </p:nvSpPr>
        <p:spPr>
          <a:xfrm>
            <a:off x="5724144" y="1563624"/>
            <a:ext cx="1078992" cy="292608"/>
          </a:xfrm>
          <a:prstGeom prst="rect">
            <a:avLst/>
          </a:prstGeom>
          <a:solidFill>
            <a:srgbClr val="122247"/>
          </a:solidFill>
          <a:ln/>
        </p:spPr>
      </p:sp>
      <p:sp>
        <p:nvSpPr>
          <p:cNvPr id="48" name="Text 46"/>
          <p:cNvSpPr/>
          <p:nvPr/>
        </p:nvSpPr>
        <p:spPr>
          <a:xfrm>
            <a:off x="5724144" y="1563624"/>
            <a:ext cx="10789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750" dirty="0"/>
          </a:p>
        </p:txBody>
      </p:sp>
      <p:sp>
        <p:nvSpPr>
          <p:cNvPr id="49" name="Shape 47"/>
          <p:cNvSpPr/>
          <p:nvPr/>
        </p:nvSpPr>
        <p:spPr>
          <a:xfrm>
            <a:off x="6839712" y="1563624"/>
            <a:ext cx="1078992" cy="292608"/>
          </a:xfrm>
          <a:prstGeom prst="rect">
            <a:avLst/>
          </a:prstGeom>
          <a:solidFill>
            <a:srgbClr val="1B3A65"/>
          </a:solidFill>
          <a:ln/>
        </p:spPr>
      </p:sp>
      <p:sp>
        <p:nvSpPr>
          <p:cNvPr id="50" name="Text 48"/>
          <p:cNvSpPr/>
          <p:nvPr/>
        </p:nvSpPr>
        <p:spPr>
          <a:xfrm>
            <a:off x="6839712" y="1563624"/>
            <a:ext cx="10789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750" dirty="0"/>
          </a:p>
        </p:txBody>
      </p:sp>
      <p:sp>
        <p:nvSpPr>
          <p:cNvPr id="51" name="Shape 49"/>
          <p:cNvSpPr/>
          <p:nvPr/>
        </p:nvSpPr>
        <p:spPr>
          <a:xfrm>
            <a:off x="7955280" y="1563624"/>
            <a:ext cx="1078992" cy="292608"/>
          </a:xfrm>
          <a:prstGeom prst="rect">
            <a:avLst/>
          </a:prstGeom>
          <a:solidFill>
            <a:srgbClr val="1C3D69"/>
          </a:solidFill>
          <a:ln/>
        </p:spPr>
      </p:sp>
      <p:sp>
        <p:nvSpPr>
          <p:cNvPr id="52" name="Text 50"/>
          <p:cNvSpPr/>
          <p:nvPr/>
        </p:nvSpPr>
        <p:spPr>
          <a:xfrm>
            <a:off x="7955280" y="1563624"/>
            <a:ext cx="10789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750" dirty="0"/>
          </a:p>
        </p:txBody>
      </p:sp>
      <p:sp>
        <p:nvSpPr>
          <p:cNvPr id="53" name="Shape 51"/>
          <p:cNvSpPr/>
          <p:nvPr/>
        </p:nvSpPr>
        <p:spPr>
          <a:xfrm>
            <a:off x="347472" y="1874520"/>
            <a:ext cx="822960" cy="292608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54" name="Text 52"/>
          <p:cNvSpPr/>
          <p:nvPr/>
        </p:nvSpPr>
        <p:spPr>
          <a:xfrm>
            <a:off x="347472" y="1874520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02:00</a:t>
            </a:r>
            <a:endParaRPr lang="en-US" sz="800" dirty="0"/>
          </a:p>
        </p:txBody>
      </p:sp>
      <p:sp>
        <p:nvSpPr>
          <p:cNvPr id="55" name="Shape 53"/>
          <p:cNvSpPr/>
          <p:nvPr/>
        </p:nvSpPr>
        <p:spPr>
          <a:xfrm>
            <a:off x="1261872" y="1874520"/>
            <a:ext cx="1078992" cy="292608"/>
          </a:xfrm>
          <a:prstGeom prst="rect">
            <a:avLst/>
          </a:prstGeom>
          <a:solidFill>
            <a:srgbClr val="111E43"/>
          </a:solidFill>
          <a:ln/>
        </p:spPr>
      </p:sp>
      <p:sp>
        <p:nvSpPr>
          <p:cNvPr id="56" name="Text 54"/>
          <p:cNvSpPr/>
          <p:nvPr/>
        </p:nvSpPr>
        <p:spPr>
          <a:xfrm>
            <a:off x="1261872" y="1874520"/>
            <a:ext cx="10789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750" dirty="0"/>
          </a:p>
        </p:txBody>
      </p:sp>
      <p:sp>
        <p:nvSpPr>
          <p:cNvPr id="57" name="Shape 55"/>
          <p:cNvSpPr/>
          <p:nvPr/>
        </p:nvSpPr>
        <p:spPr>
          <a:xfrm>
            <a:off x="2377440" y="1874520"/>
            <a:ext cx="1078992" cy="292608"/>
          </a:xfrm>
          <a:prstGeom prst="rect">
            <a:avLst/>
          </a:prstGeom>
          <a:solidFill>
            <a:srgbClr val="101C40"/>
          </a:solidFill>
          <a:ln/>
        </p:spPr>
      </p:sp>
      <p:sp>
        <p:nvSpPr>
          <p:cNvPr id="58" name="Text 56"/>
          <p:cNvSpPr/>
          <p:nvPr/>
        </p:nvSpPr>
        <p:spPr>
          <a:xfrm>
            <a:off x="2377440" y="1874520"/>
            <a:ext cx="10789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750" dirty="0"/>
          </a:p>
        </p:txBody>
      </p:sp>
      <p:sp>
        <p:nvSpPr>
          <p:cNvPr id="59" name="Shape 57"/>
          <p:cNvSpPr/>
          <p:nvPr/>
        </p:nvSpPr>
        <p:spPr>
          <a:xfrm>
            <a:off x="3493008" y="1874520"/>
            <a:ext cx="1078992" cy="292608"/>
          </a:xfrm>
          <a:prstGeom prst="rect">
            <a:avLst/>
          </a:prstGeom>
          <a:solidFill>
            <a:srgbClr val="111F43"/>
          </a:solidFill>
          <a:ln/>
        </p:spPr>
      </p:sp>
      <p:sp>
        <p:nvSpPr>
          <p:cNvPr id="60" name="Text 58"/>
          <p:cNvSpPr/>
          <p:nvPr/>
        </p:nvSpPr>
        <p:spPr>
          <a:xfrm>
            <a:off x="3493008" y="1874520"/>
            <a:ext cx="10789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750" dirty="0"/>
          </a:p>
        </p:txBody>
      </p:sp>
      <p:sp>
        <p:nvSpPr>
          <p:cNvPr id="61" name="Shape 59"/>
          <p:cNvSpPr/>
          <p:nvPr/>
        </p:nvSpPr>
        <p:spPr>
          <a:xfrm>
            <a:off x="4608576" y="1874520"/>
            <a:ext cx="1078992" cy="292608"/>
          </a:xfrm>
          <a:prstGeom prst="rect">
            <a:avLst/>
          </a:prstGeom>
          <a:solidFill>
            <a:srgbClr val="101C40"/>
          </a:solidFill>
          <a:ln/>
        </p:spPr>
      </p:sp>
      <p:sp>
        <p:nvSpPr>
          <p:cNvPr id="62" name="Text 60"/>
          <p:cNvSpPr/>
          <p:nvPr/>
        </p:nvSpPr>
        <p:spPr>
          <a:xfrm>
            <a:off x="4608576" y="1874520"/>
            <a:ext cx="10789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750" dirty="0"/>
          </a:p>
        </p:txBody>
      </p:sp>
      <p:sp>
        <p:nvSpPr>
          <p:cNvPr id="63" name="Shape 61"/>
          <p:cNvSpPr/>
          <p:nvPr/>
        </p:nvSpPr>
        <p:spPr>
          <a:xfrm>
            <a:off x="5724144" y="1874520"/>
            <a:ext cx="1078992" cy="292608"/>
          </a:xfrm>
          <a:prstGeom prst="rect">
            <a:avLst/>
          </a:prstGeom>
          <a:solidFill>
            <a:srgbClr val="101C3F"/>
          </a:solidFill>
          <a:ln/>
        </p:spPr>
      </p:sp>
      <p:sp>
        <p:nvSpPr>
          <p:cNvPr id="64" name="Text 62"/>
          <p:cNvSpPr/>
          <p:nvPr/>
        </p:nvSpPr>
        <p:spPr>
          <a:xfrm>
            <a:off x="5724144" y="1874520"/>
            <a:ext cx="10789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750" dirty="0"/>
          </a:p>
        </p:txBody>
      </p:sp>
      <p:sp>
        <p:nvSpPr>
          <p:cNvPr id="65" name="Shape 63"/>
          <p:cNvSpPr/>
          <p:nvPr/>
        </p:nvSpPr>
        <p:spPr>
          <a:xfrm>
            <a:off x="6839712" y="1874520"/>
            <a:ext cx="1078992" cy="292608"/>
          </a:xfrm>
          <a:prstGeom prst="rect">
            <a:avLst/>
          </a:prstGeom>
          <a:solidFill>
            <a:srgbClr val="19335D"/>
          </a:solidFill>
          <a:ln/>
        </p:spPr>
      </p:sp>
      <p:sp>
        <p:nvSpPr>
          <p:cNvPr id="66" name="Text 64"/>
          <p:cNvSpPr/>
          <p:nvPr/>
        </p:nvSpPr>
        <p:spPr>
          <a:xfrm>
            <a:off x="6839712" y="1874520"/>
            <a:ext cx="10789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750" dirty="0"/>
          </a:p>
        </p:txBody>
      </p:sp>
      <p:sp>
        <p:nvSpPr>
          <p:cNvPr id="67" name="Shape 65"/>
          <p:cNvSpPr/>
          <p:nvPr/>
        </p:nvSpPr>
        <p:spPr>
          <a:xfrm>
            <a:off x="7955280" y="1874520"/>
            <a:ext cx="1078992" cy="292608"/>
          </a:xfrm>
          <a:prstGeom prst="rect">
            <a:avLst/>
          </a:prstGeom>
          <a:solidFill>
            <a:srgbClr val="183059"/>
          </a:solidFill>
          <a:ln/>
        </p:spPr>
      </p:sp>
      <p:sp>
        <p:nvSpPr>
          <p:cNvPr id="68" name="Text 66"/>
          <p:cNvSpPr/>
          <p:nvPr/>
        </p:nvSpPr>
        <p:spPr>
          <a:xfrm>
            <a:off x="7955280" y="1874520"/>
            <a:ext cx="10789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750" dirty="0"/>
          </a:p>
        </p:txBody>
      </p:sp>
      <p:sp>
        <p:nvSpPr>
          <p:cNvPr id="69" name="Shape 67"/>
          <p:cNvSpPr/>
          <p:nvPr/>
        </p:nvSpPr>
        <p:spPr>
          <a:xfrm>
            <a:off x="347472" y="2185416"/>
            <a:ext cx="822960" cy="292608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70" name="Text 68"/>
          <p:cNvSpPr/>
          <p:nvPr/>
        </p:nvSpPr>
        <p:spPr>
          <a:xfrm>
            <a:off x="347472" y="2185416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03:00</a:t>
            </a:r>
            <a:endParaRPr lang="en-US" sz="800" dirty="0"/>
          </a:p>
        </p:txBody>
      </p:sp>
      <p:sp>
        <p:nvSpPr>
          <p:cNvPr id="71" name="Shape 69"/>
          <p:cNvSpPr/>
          <p:nvPr/>
        </p:nvSpPr>
        <p:spPr>
          <a:xfrm>
            <a:off x="1261872" y="2185416"/>
            <a:ext cx="1078992" cy="292608"/>
          </a:xfrm>
          <a:prstGeom prst="rect">
            <a:avLst/>
          </a:prstGeom>
          <a:solidFill>
            <a:srgbClr val="101B3F"/>
          </a:solidFill>
          <a:ln/>
        </p:spPr>
      </p:sp>
      <p:sp>
        <p:nvSpPr>
          <p:cNvPr id="72" name="Text 70"/>
          <p:cNvSpPr/>
          <p:nvPr/>
        </p:nvSpPr>
        <p:spPr>
          <a:xfrm>
            <a:off x="1261872" y="2185416"/>
            <a:ext cx="10789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750" dirty="0"/>
          </a:p>
        </p:txBody>
      </p:sp>
      <p:sp>
        <p:nvSpPr>
          <p:cNvPr id="73" name="Shape 71"/>
          <p:cNvSpPr/>
          <p:nvPr/>
        </p:nvSpPr>
        <p:spPr>
          <a:xfrm>
            <a:off x="2377440" y="2185416"/>
            <a:ext cx="1078992" cy="292608"/>
          </a:xfrm>
          <a:prstGeom prst="rect">
            <a:avLst/>
          </a:prstGeom>
          <a:solidFill>
            <a:srgbClr val="101B3F"/>
          </a:solidFill>
          <a:ln/>
        </p:spPr>
      </p:sp>
      <p:sp>
        <p:nvSpPr>
          <p:cNvPr id="74" name="Text 72"/>
          <p:cNvSpPr/>
          <p:nvPr/>
        </p:nvSpPr>
        <p:spPr>
          <a:xfrm>
            <a:off x="2377440" y="2185416"/>
            <a:ext cx="10789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750" dirty="0"/>
          </a:p>
        </p:txBody>
      </p:sp>
      <p:sp>
        <p:nvSpPr>
          <p:cNvPr id="75" name="Shape 73"/>
          <p:cNvSpPr/>
          <p:nvPr/>
        </p:nvSpPr>
        <p:spPr>
          <a:xfrm>
            <a:off x="3493008" y="2185416"/>
            <a:ext cx="1078992" cy="292608"/>
          </a:xfrm>
          <a:prstGeom prst="rect">
            <a:avLst/>
          </a:prstGeom>
          <a:solidFill>
            <a:srgbClr val="101B3F"/>
          </a:solidFill>
          <a:ln/>
        </p:spPr>
      </p:sp>
      <p:sp>
        <p:nvSpPr>
          <p:cNvPr id="76" name="Text 74"/>
          <p:cNvSpPr/>
          <p:nvPr/>
        </p:nvSpPr>
        <p:spPr>
          <a:xfrm>
            <a:off x="3493008" y="2185416"/>
            <a:ext cx="10789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750" dirty="0"/>
          </a:p>
        </p:txBody>
      </p:sp>
      <p:sp>
        <p:nvSpPr>
          <p:cNvPr id="77" name="Shape 75"/>
          <p:cNvSpPr/>
          <p:nvPr/>
        </p:nvSpPr>
        <p:spPr>
          <a:xfrm>
            <a:off x="4608576" y="2185416"/>
            <a:ext cx="1078992" cy="292608"/>
          </a:xfrm>
          <a:prstGeom prst="rect">
            <a:avLst/>
          </a:prstGeom>
          <a:solidFill>
            <a:srgbClr val="101C3F"/>
          </a:solidFill>
          <a:ln/>
        </p:spPr>
      </p:sp>
      <p:sp>
        <p:nvSpPr>
          <p:cNvPr id="78" name="Text 76"/>
          <p:cNvSpPr/>
          <p:nvPr/>
        </p:nvSpPr>
        <p:spPr>
          <a:xfrm>
            <a:off x="4608576" y="2185416"/>
            <a:ext cx="10789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750" dirty="0"/>
          </a:p>
        </p:txBody>
      </p:sp>
      <p:sp>
        <p:nvSpPr>
          <p:cNvPr id="79" name="Shape 77"/>
          <p:cNvSpPr/>
          <p:nvPr/>
        </p:nvSpPr>
        <p:spPr>
          <a:xfrm>
            <a:off x="5724144" y="2185416"/>
            <a:ext cx="1078992" cy="292608"/>
          </a:xfrm>
          <a:prstGeom prst="rect">
            <a:avLst/>
          </a:prstGeom>
          <a:solidFill>
            <a:srgbClr val="101B3E"/>
          </a:solidFill>
          <a:ln/>
        </p:spPr>
      </p:sp>
      <p:sp>
        <p:nvSpPr>
          <p:cNvPr id="80" name="Text 78"/>
          <p:cNvSpPr/>
          <p:nvPr/>
        </p:nvSpPr>
        <p:spPr>
          <a:xfrm>
            <a:off x="5724144" y="2185416"/>
            <a:ext cx="10789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750" dirty="0"/>
          </a:p>
        </p:txBody>
      </p:sp>
      <p:sp>
        <p:nvSpPr>
          <p:cNvPr id="81" name="Shape 79"/>
          <p:cNvSpPr/>
          <p:nvPr/>
        </p:nvSpPr>
        <p:spPr>
          <a:xfrm>
            <a:off x="6839712" y="2185416"/>
            <a:ext cx="1078992" cy="292608"/>
          </a:xfrm>
          <a:prstGeom prst="rect">
            <a:avLst/>
          </a:prstGeom>
          <a:solidFill>
            <a:srgbClr val="14274E"/>
          </a:solidFill>
          <a:ln/>
        </p:spPr>
      </p:sp>
      <p:sp>
        <p:nvSpPr>
          <p:cNvPr id="82" name="Text 80"/>
          <p:cNvSpPr/>
          <p:nvPr/>
        </p:nvSpPr>
        <p:spPr>
          <a:xfrm>
            <a:off x="6839712" y="2185416"/>
            <a:ext cx="10789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750" dirty="0"/>
          </a:p>
        </p:txBody>
      </p:sp>
      <p:sp>
        <p:nvSpPr>
          <p:cNvPr id="83" name="Shape 81"/>
          <p:cNvSpPr/>
          <p:nvPr/>
        </p:nvSpPr>
        <p:spPr>
          <a:xfrm>
            <a:off x="7955280" y="2185416"/>
            <a:ext cx="1078992" cy="292608"/>
          </a:xfrm>
          <a:prstGeom prst="rect">
            <a:avLst/>
          </a:prstGeom>
          <a:solidFill>
            <a:srgbClr val="14274D"/>
          </a:solidFill>
          <a:ln/>
        </p:spPr>
      </p:sp>
      <p:sp>
        <p:nvSpPr>
          <p:cNvPr id="84" name="Text 82"/>
          <p:cNvSpPr/>
          <p:nvPr/>
        </p:nvSpPr>
        <p:spPr>
          <a:xfrm>
            <a:off x="7955280" y="2185416"/>
            <a:ext cx="10789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750" dirty="0"/>
          </a:p>
        </p:txBody>
      </p:sp>
      <p:sp>
        <p:nvSpPr>
          <p:cNvPr id="85" name="Shape 83"/>
          <p:cNvSpPr/>
          <p:nvPr/>
        </p:nvSpPr>
        <p:spPr>
          <a:xfrm>
            <a:off x="347472" y="2496312"/>
            <a:ext cx="822960" cy="292608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86" name="Text 84"/>
          <p:cNvSpPr/>
          <p:nvPr/>
        </p:nvSpPr>
        <p:spPr>
          <a:xfrm>
            <a:off x="347472" y="2496312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04:00</a:t>
            </a:r>
            <a:endParaRPr lang="en-US" sz="800" dirty="0"/>
          </a:p>
        </p:txBody>
      </p:sp>
      <p:sp>
        <p:nvSpPr>
          <p:cNvPr id="87" name="Shape 85"/>
          <p:cNvSpPr/>
          <p:nvPr/>
        </p:nvSpPr>
        <p:spPr>
          <a:xfrm>
            <a:off x="1261872" y="2496312"/>
            <a:ext cx="1078992" cy="292608"/>
          </a:xfrm>
          <a:prstGeom prst="rect">
            <a:avLst/>
          </a:prstGeom>
          <a:solidFill>
            <a:srgbClr val="101C40"/>
          </a:solidFill>
          <a:ln/>
        </p:spPr>
      </p:sp>
      <p:sp>
        <p:nvSpPr>
          <p:cNvPr id="88" name="Text 86"/>
          <p:cNvSpPr/>
          <p:nvPr/>
        </p:nvSpPr>
        <p:spPr>
          <a:xfrm>
            <a:off x="1261872" y="2496312"/>
            <a:ext cx="10789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750" dirty="0"/>
          </a:p>
        </p:txBody>
      </p:sp>
      <p:sp>
        <p:nvSpPr>
          <p:cNvPr id="89" name="Shape 87"/>
          <p:cNvSpPr/>
          <p:nvPr/>
        </p:nvSpPr>
        <p:spPr>
          <a:xfrm>
            <a:off x="2377440" y="2496312"/>
            <a:ext cx="1078992" cy="292608"/>
          </a:xfrm>
          <a:prstGeom prst="rect">
            <a:avLst/>
          </a:prstGeom>
          <a:solidFill>
            <a:srgbClr val="101C40"/>
          </a:solidFill>
          <a:ln/>
        </p:spPr>
      </p:sp>
      <p:sp>
        <p:nvSpPr>
          <p:cNvPr id="90" name="Text 88"/>
          <p:cNvSpPr/>
          <p:nvPr/>
        </p:nvSpPr>
        <p:spPr>
          <a:xfrm>
            <a:off x="2377440" y="2496312"/>
            <a:ext cx="10789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750" dirty="0"/>
          </a:p>
        </p:txBody>
      </p:sp>
      <p:sp>
        <p:nvSpPr>
          <p:cNvPr id="91" name="Shape 89"/>
          <p:cNvSpPr/>
          <p:nvPr/>
        </p:nvSpPr>
        <p:spPr>
          <a:xfrm>
            <a:off x="3493008" y="2496312"/>
            <a:ext cx="1078992" cy="292608"/>
          </a:xfrm>
          <a:prstGeom prst="rect">
            <a:avLst/>
          </a:prstGeom>
          <a:solidFill>
            <a:srgbClr val="101C3F"/>
          </a:solidFill>
          <a:ln/>
        </p:spPr>
      </p:sp>
      <p:sp>
        <p:nvSpPr>
          <p:cNvPr id="92" name="Text 90"/>
          <p:cNvSpPr/>
          <p:nvPr/>
        </p:nvSpPr>
        <p:spPr>
          <a:xfrm>
            <a:off x="3493008" y="2496312"/>
            <a:ext cx="10789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750" dirty="0"/>
          </a:p>
        </p:txBody>
      </p:sp>
      <p:sp>
        <p:nvSpPr>
          <p:cNvPr id="93" name="Shape 91"/>
          <p:cNvSpPr/>
          <p:nvPr/>
        </p:nvSpPr>
        <p:spPr>
          <a:xfrm>
            <a:off x="4608576" y="2496312"/>
            <a:ext cx="1078992" cy="292608"/>
          </a:xfrm>
          <a:prstGeom prst="rect">
            <a:avLst/>
          </a:prstGeom>
          <a:solidFill>
            <a:srgbClr val="101C3F"/>
          </a:solidFill>
          <a:ln/>
        </p:spPr>
      </p:sp>
      <p:sp>
        <p:nvSpPr>
          <p:cNvPr id="94" name="Text 92"/>
          <p:cNvSpPr/>
          <p:nvPr/>
        </p:nvSpPr>
        <p:spPr>
          <a:xfrm>
            <a:off x="4608576" y="2496312"/>
            <a:ext cx="10789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750" dirty="0"/>
          </a:p>
        </p:txBody>
      </p:sp>
      <p:sp>
        <p:nvSpPr>
          <p:cNvPr id="95" name="Shape 93"/>
          <p:cNvSpPr/>
          <p:nvPr/>
        </p:nvSpPr>
        <p:spPr>
          <a:xfrm>
            <a:off x="5724144" y="2496312"/>
            <a:ext cx="1078992" cy="292608"/>
          </a:xfrm>
          <a:prstGeom prst="rect">
            <a:avLst/>
          </a:prstGeom>
          <a:solidFill>
            <a:srgbClr val="101B3E"/>
          </a:solidFill>
          <a:ln/>
        </p:spPr>
      </p:sp>
      <p:sp>
        <p:nvSpPr>
          <p:cNvPr id="96" name="Text 94"/>
          <p:cNvSpPr/>
          <p:nvPr/>
        </p:nvSpPr>
        <p:spPr>
          <a:xfrm>
            <a:off x="5724144" y="2496312"/>
            <a:ext cx="10789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750" dirty="0"/>
          </a:p>
        </p:txBody>
      </p:sp>
      <p:sp>
        <p:nvSpPr>
          <p:cNvPr id="97" name="Shape 95"/>
          <p:cNvSpPr/>
          <p:nvPr/>
        </p:nvSpPr>
        <p:spPr>
          <a:xfrm>
            <a:off x="6839712" y="2496312"/>
            <a:ext cx="1078992" cy="292608"/>
          </a:xfrm>
          <a:prstGeom prst="rect">
            <a:avLst/>
          </a:prstGeom>
          <a:solidFill>
            <a:srgbClr val="111F43"/>
          </a:solidFill>
          <a:ln/>
        </p:spPr>
      </p:sp>
      <p:sp>
        <p:nvSpPr>
          <p:cNvPr id="98" name="Text 96"/>
          <p:cNvSpPr/>
          <p:nvPr/>
        </p:nvSpPr>
        <p:spPr>
          <a:xfrm>
            <a:off x="6839712" y="2496312"/>
            <a:ext cx="10789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750" dirty="0"/>
          </a:p>
        </p:txBody>
      </p:sp>
      <p:sp>
        <p:nvSpPr>
          <p:cNvPr id="99" name="Shape 97"/>
          <p:cNvSpPr/>
          <p:nvPr/>
        </p:nvSpPr>
        <p:spPr>
          <a:xfrm>
            <a:off x="7955280" y="2496312"/>
            <a:ext cx="1078992" cy="292608"/>
          </a:xfrm>
          <a:prstGeom prst="rect">
            <a:avLst/>
          </a:prstGeom>
          <a:solidFill>
            <a:srgbClr val="101C3F"/>
          </a:solidFill>
          <a:ln/>
        </p:spPr>
      </p:sp>
      <p:sp>
        <p:nvSpPr>
          <p:cNvPr id="100" name="Text 98"/>
          <p:cNvSpPr/>
          <p:nvPr/>
        </p:nvSpPr>
        <p:spPr>
          <a:xfrm>
            <a:off x="7955280" y="2496312"/>
            <a:ext cx="10789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750" dirty="0"/>
          </a:p>
        </p:txBody>
      </p:sp>
      <p:sp>
        <p:nvSpPr>
          <p:cNvPr id="101" name="Shape 99"/>
          <p:cNvSpPr/>
          <p:nvPr/>
        </p:nvSpPr>
        <p:spPr>
          <a:xfrm>
            <a:off x="347472" y="2807208"/>
            <a:ext cx="822960" cy="292608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102" name="Text 100"/>
          <p:cNvSpPr/>
          <p:nvPr/>
        </p:nvSpPr>
        <p:spPr>
          <a:xfrm>
            <a:off x="347472" y="2807208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05:00</a:t>
            </a:r>
            <a:endParaRPr lang="en-US" sz="800" dirty="0"/>
          </a:p>
        </p:txBody>
      </p:sp>
      <p:sp>
        <p:nvSpPr>
          <p:cNvPr id="103" name="Shape 101"/>
          <p:cNvSpPr/>
          <p:nvPr/>
        </p:nvSpPr>
        <p:spPr>
          <a:xfrm>
            <a:off x="1261872" y="2807208"/>
            <a:ext cx="1078992" cy="292608"/>
          </a:xfrm>
          <a:prstGeom prst="rect">
            <a:avLst/>
          </a:prstGeom>
          <a:solidFill>
            <a:srgbClr val="122045"/>
          </a:solidFill>
          <a:ln/>
        </p:spPr>
      </p:sp>
      <p:sp>
        <p:nvSpPr>
          <p:cNvPr id="104" name="Text 102"/>
          <p:cNvSpPr/>
          <p:nvPr/>
        </p:nvSpPr>
        <p:spPr>
          <a:xfrm>
            <a:off x="1261872" y="2807208"/>
            <a:ext cx="10789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750" dirty="0"/>
          </a:p>
        </p:txBody>
      </p:sp>
      <p:sp>
        <p:nvSpPr>
          <p:cNvPr id="105" name="Shape 103"/>
          <p:cNvSpPr/>
          <p:nvPr/>
        </p:nvSpPr>
        <p:spPr>
          <a:xfrm>
            <a:off x="2377440" y="2807208"/>
            <a:ext cx="1078992" cy="292608"/>
          </a:xfrm>
          <a:prstGeom prst="rect">
            <a:avLst/>
          </a:prstGeom>
          <a:solidFill>
            <a:srgbClr val="122045"/>
          </a:solidFill>
          <a:ln/>
        </p:spPr>
      </p:sp>
      <p:sp>
        <p:nvSpPr>
          <p:cNvPr id="106" name="Text 104"/>
          <p:cNvSpPr/>
          <p:nvPr/>
        </p:nvSpPr>
        <p:spPr>
          <a:xfrm>
            <a:off x="2377440" y="2807208"/>
            <a:ext cx="10789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750" dirty="0"/>
          </a:p>
        </p:txBody>
      </p:sp>
      <p:sp>
        <p:nvSpPr>
          <p:cNvPr id="107" name="Shape 105"/>
          <p:cNvSpPr/>
          <p:nvPr/>
        </p:nvSpPr>
        <p:spPr>
          <a:xfrm>
            <a:off x="3493008" y="2807208"/>
            <a:ext cx="1078992" cy="292608"/>
          </a:xfrm>
          <a:prstGeom prst="rect">
            <a:avLst/>
          </a:prstGeom>
          <a:solidFill>
            <a:srgbClr val="112044"/>
          </a:solidFill>
          <a:ln/>
        </p:spPr>
      </p:sp>
      <p:sp>
        <p:nvSpPr>
          <p:cNvPr id="108" name="Text 106"/>
          <p:cNvSpPr/>
          <p:nvPr/>
        </p:nvSpPr>
        <p:spPr>
          <a:xfrm>
            <a:off x="3493008" y="2807208"/>
            <a:ext cx="10789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750" dirty="0"/>
          </a:p>
        </p:txBody>
      </p:sp>
      <p:sp>
        <p:nvSpPr>
          <p:cNvPr id="109" name="Shape 107"/>
          <p:cNvSpPr/>
          <p:nvPr/>
        </p:nvSpPr>
        <p:spPr>
          <a:xfrm>
            <a:off x="4608576" y="2807208"/>
            <a:ext cx="1078992" cy="292608"/>
          </a:xfrm>
          <a:prstGeom prst="rect">
            <a:avLst/>
          </a:prstGeom>
          <a:solidFill>
            <a:srgbClr val="111F44"/>
          </a:solidFill>
          <a:ln/>
        </p:spPr>
      </p:sp>
      <p:sp>
        <p:nvSpPr>
          <p:cNvPr id="110" name="Text 108"/>
          <p:cNvSpPr/>
          <p:nvPr/>
        </p:nvSpPr>
        <p:spPr>
          <a:xfrm>
            <a:off x="4608576" y="2807208"/>
            <a:ext cx="10789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750" dirty="0"/>
          </a:p>
        </p:txBody>
      </p:sp>
      <p:sp>
        <p:nvSpPr>
          <p:cNvPr id="111" name="Shape 109"/>
          <p:cNvSpPr/>
          <p:nvPr/>
        </p:nvSpPr>
        <p:spPr>
          <a:xfrm>
            <a:off x="5724144" y="2807208"/>
            <a:ext cx="1078992" cy="292608"/>
          </a:xfrm>
          <a:prstGeom prst="rect">
            <a:avLst/>
          </a:prstGeom>
          <a:solidFill>
            <a:srgbClr val="122147"/>
          </a:solidFill>
          <a:ln/>
        </p:spPr>
      </p:sp>
      <p:sp>
        <p:nvSpPr>
          <p:cNvPr id="112" name="Text 110"/>
          <p:cNvSpPr/>
          <p:nvPr/>
        </p:nvSpPr>
        <p:spPr>
          <a:xfrm>
            <a:off x="5724144" y="2807208"/>
            <a:ext cx="10789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750" dirty="0"/>
          </a:p>
        </p:txBody>
      </p:sp>
      <p:sp>
        <p:nvSpPr>
          <p:cNvPr id="113" name="Shape 111"/>
          <p:cNvSpPr/>
          <p:nvPr/>
        </p:nvSpPr>
        <p:spPr>
          <a:xfrm>
            <a:off x="6839712" y="2807208"/>
            <a:ext cx="1078992" cy="292608"/>
          </a:xfrm>
          <a:prstGeom prst="rect">
            <a:avLst/>
          </a:prstGeom>
          <a:solidFill>
            <a:srgbClr val="111E43"/>
          </a:solidFill>
          <a:ln/>
        </p:spPr>
      </p:sp>
      <p:sp>
        <p:nvSpPr>
          <p:cNvPr id="114" name="Text 112"/>
          <p:cNvSpPr/>
          <p:nvPr/>
        </p:nvSpPr>
        <p:spPr>
          <a:xfrm>
            <a:off x="6839712" y="2807208"/>
            <a:ext cx="10789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750" dirty="0"/>
          </a:p>
        </p:txBody>
      </p:sp>
      <p:sp>
        <p:nvSpPr>
          <p:cNvPr id="115" name="Shape 113"/>
          <p:cNvSpPr/>
          <p:nvPr/>
        </p:nvSpPr>
        <p:spPr>
          <a:xfrm>
            <a:off x="7955280" y="2807208"/>
            <a:ext cx="1078992" cy="292608"/>
          </a:xfrm>
          <a:prstGeom prst="rect">
            <a:avLst/>
          </a:prstGeom>
          <a:solidFill>
            <a:srgbClr val="101C40"/>
          </a:solidFill>
          <a:ln/>
        </p:spPr>
      </p:sp>
      <p:sp>
        <p:nvSpPr>
          <p:cNvPr id="116" name="Text 114"/>
          <p:cNvSpPr/>
          <p:nvPr/>
        </p:nvSpPr>
        <p:spPr>
          <a:xfrm>
            <a:off x="7955280" y="2807208"/>
            <a:ext cx="10789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750" dirty="0"/>
          </a:p>
        </p:txBody>
      </p:sp>
      <p:sp>
        <p:nvSpPr>
          <p:cNvPr id="117" name="Shape 115"/>
          <p:cNvSpPr/>
          <p:nvPr/>
        </p:nvSpPr>
        <p:spPr>
          <a:xfrm>
            <a:off x="347472" y="3118104"/>
            <a:ext cx="822960" cy="292608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118" name="Text 116"/>
          <p:cNvSpPr/>
          <p:nvPr/>
        </p:nvSpPr>
        <p:spPr>
          <a:xfrm>
            <a:off x="347472" y="3118104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06:00</a:t>
            </a:r>
            <a:endParaRPr lang="en-US" sz="800" dirty="0"/>
          </a:p>
        </p:txBody>
      </p:sp>
      <p:sp>
        <p:nvSpPr>
          <p:cNvPr id="119" name="Shape 117"/>
          <p:cNvSpPr/>
          <p:nvPr/>
        </p:nvSpPr>
        <p:spPr>
          <a:xfrm>
            <a:off x="1261872" y="3118104"/>
            <a:ext cx="1078992" cy="292608"/>
          </a:xfrm>
          <a:prstGeom prst="rect">
            <a:avLst/>
          </a:prstGeom>
          <a:solidFill>
            <a:srgbClr val="1D3F6C"/>
          </a:solidFill>
          <a:ln/>
        </p:spPr>
      </p:sp>
      <p:sp>
        <p:nvSpPr>
          <p:cNvPr id="120" name="Text 118"/>
          <p:cNvSpPr/>
          <p:nvPr/>
        </p:nvSpPr>
        <p:spPr>
          <a:xfrm>
            <a:off x="1261872" y="3118104"/>
            <a:ext cx="10789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750" dirty="0"/>
          </a:p>
        </p:txBody>
      </p:sp>
      <p:sp>
        <p:nvSpPr>
          <p:cNvPr id="121" name="Shape 119"/>
          <p:cNvSpPr/>
          <p:nvPr/>
        </p:nvSpPr>
        <p:spPr>
          <a:xfrm>
            <a:off x="2377440" y="3118104"/>
            <a:ext cx="1078992" cy="292608"/>
          </a:xfrm>
          <a:prstGeom prst="rect">
            <a:avLst/>
          </a:prstGeom>
          <a:solidFill>
            <a:srgbClr val="224A7A"/>
          </a:solidFill>
          <a:ln/>
        </p:spPr>
      </p:sp>
      <p:sp>
        <p:nvSpPr>
          <p:cNvPr id="122" name="Text 120"/>
          <p:cNvSpPr/>
          <p:nvPr/>
        </p:nvSpPr>
        <p:spPr>
          <a:xfrm>
            <a:off x="2377440" y="3118104"/>
            <a:ext cx="10789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</a:t>
            </a:r>
            <a:endParaRPr lang="en-US" sz="750" dirty="0"/>
          </a:p>
        </p:txBody>
      </p:sp>
      <p:sp>
        <p:nvSpPr>
          <p:cNvPr id="123" name="Shape 121"/>
          <p:cNvSpPr/>
          <p:nvPr/>
        </p:nvSpPr>
        <p:spPr>
          <a:xfrm>
            <a:off x="3493008" y="3118104"/>
            <a:ext cx="1078992" cy="292608"/>
          </a:xfrm>
          <a:prstGeom prst="rect">
            <a:avLst/>
          </a:prstGeom>
          <a:solidFill>
            <a:srgbClr val="1D406C"/>
          </a:solidFill>
          <a:ln/>
        </p:spPr>
      </p:sp>
      <p:sp>
        <p:nvSpPr>
          <p:cNvPr id="124" name="Text 122"/>
          <p:cNvSpPr/>
          <p:nvPr/>
        </p:nvSpPr>
        <p:spPr>
          <a:xfrm>
            <a:off x="3493008" y="3118104"/>
            <a:ext cx="10789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750" dirty="0"/>
          </a:p>
        </p:txBody>
      </p:sp>
      <p:sp>
        <p:nvSpPr>
          <p:cNvPr id="125" name="Shape 123"/>
          <p:cNvSpPr/>
          <p:nvPr/>
        </p:nvSpPr>
        <p:spPr>
          <a:xfrm>
            <a:off x="4608576" y="3118104"/>
            <a:ext cx="1078992" cy="292608"/>
          </a:xfrm>
          <a:prstGeom prst="rect">
            <a:avLst/>
          </a:prstGeom>
          <a:solidFill>
            <a:srgbClr val="224C7B"/>
          </a:solidFill>
          <a:ln/>
        </p:spPr>
      </p:sp>
      <p:sp>
        <p:nvSpPr>
          <p:cNvPr id="126" name="Text 124"/>
          <p:cNvSpPr/>
          <p:nvPr/>
        </p:nvSpPr>
        <p:spPr>
          <a:xfrm>
            <a:off x="4608576" y="3118104"/>
            <a:ext cx="10789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</a:t>
            </a:r>
            <a:endParaRPr lang="en-US" sz="750" dirty="0"/>
          </a:p>
        </p:txBody>
      </p:sp>
      <p:sp>
        <p:nvSpPr>
          <p:cNvPr id="127" name="Shape 125"/>
          <p:cNvSpPr/>
          <p:nvPr/>
        </p:nvSpPr>
        <p:spPr>
          <a:xfrm>
            <a:off x="5724144" y="3118104"/>
            <a:ext cx="1078992" cy="292608"/>
          </a:xfrm>
          <a:prstGeom prst="rect">
            <a:avLst/>
          </a:prstGeom>
          <a:solidFill>
            <a:srgbClr val="1D3F6B"/>
          </a:solidFill>
          <a:ln/>
        </p:spPr>
      </p:sp>
      <p:sp>
        <p:nvSpPr>
          <p:cNvPr id="128" name="Text 126"/>
          <p:cNvSpPr/>
          <p:nvPr/>
        </p:nvSpPr>
        <p:spPr>
          <a:xfrm>
            <a:off x="5724144" y="3118104"/>
            <a:ext cx="10789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750" dirty="0"/>
          </a:p>
        </p:txBody>
      </p:sp>
      <p:sp>
        <p:nvSpPr>
          <p:cNvPr id="129" name="Shape 127"/>
          <p:cNvSpPr/>
          <p:nvPr/>
        </p:nvSpPr>
        <p:spPr>
          <a:xfrm>
            <a:off x="6839712" y="3118104"/>
            <a:ext cx="1078992" cy="292608"/>
          </a:xfrm>
          <a:prstGeom prst="rect">
            <a:avLst/>
          </a:prstGeom>
          <a:solidFill>
            <a:srgbClr val="101D41"/>
          </a:solidFill>
          <a:ln/>
        </p:spPr>
      </p:sp>
      <p:sp>
        <p:nvSpPr>
          <p:cNvPr id="130" name="Text 128"/>
          <p:cNvSpPr/>
          <p:nvPr/>
        </p:nvSpPr>
        <p:spPr>
          <a:xfrm>
            <a:off x="6839712" y="3118104"/>
            <a:ext cx="10789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750" dirty="0"/>
          </a:p>
        </p:txBody>
      </p:sp>
      <p:sp>
        <p:nvSpPr>
          <p:cNvPr id="131" name="Shape 129"/>
          <p:cNvSpPr/>
          <p:nvPr/>
        </p:nvSpPr>
        <p:spPr>
          <a:xfrm>
            <a:off x="7955280" y="3118104"/>
            <a:ext cx="1078992" cy="292608"/>
          </a:xfrm>
          <a:prstGeom prst="rect">
            <a:avLst/>
          </a:prstGeom>
          <a:solidFill>
            <a:srgbClr val="101C3F"/>
          </a:solidFill>
          <a:ln/>
        </p:spPr>
      </p:sp>
      <p:sp>
        <p:nvSpPr>
          <p:cNvPr id="132" name="Text 130"/>
          <p:cNvSpPr/>
          <p:nvPr/>
        </p:nvSpPr>
        <p:spPr>
          <a:xfrm>
            <a:off x="7955280" y="3118104"/>
            <a:ext cx="10789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750" dirty="0"/>
          </a:p>
        </p:txBody>
      </p:sp>
      <p:sp>
        <p:nvSpPr>
          <p:cNvPr id="133" name="Shape 131"/>
          <p:cNvSpPr/>
          <p:nvPr/>
        </p:nvSpPr>
        <p:spPr>
          <a:xfrm>
            <a:off x="347472" y="3429000"/>
            <a:ext cx="822960" cy="292608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134" name="Text 132"/>
          <p:cNvSpPr/>
          <p:nvPr/>
        </p:nvSpPr>
        <p:spPr>
          <a:xfrm>
            <a:off x="347472" y="3429000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07:00</a:t>
            </a:r>
            <a:endParaRPr lang="en-US" sz="800" dirty="0"/>
          </a:p>
        </p:txBody>
      </p:sp>
      <p:sp>
        <p:nvSpPr>
          <p:cNvPr id="135" name="Shape 133"/>
          <p:cNvSpPr/>
          <p:nvPr/>
        </p:nvSpPr>
        <p:spPr>
          <a:xfrm>
            <a:off x="1261872" y="3429000"/>
            <a:ext cx="1078992" cy="292608"/>
          </a:xfrm>
          <a:prstGeom prst="rect">
            <a:avLst/>
          </a:prstGeom>
          <a:solidFill>
            <a:srgbClr val="547C81"/>
          </a:solidFill>
          <a:ln/>
        </p:spPr>
      </p:sp>
      <p:sp>
        <p:nvSpPr>
          <p:cNvPr id="136" name="Text 134"/>
          <p:cNvSpPr/>
          <p:nvPr/>
        </p:nvSpPr>
        <p:spPr>
          <a:xfrm>
            <a:off x="1261872" y="3429000"/>
            <a:ext cx="10789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</a:t>
            </a:r>
            <a:endParaRPr lang="en-US" sz="750" dirty="0"/>
          </a:p>
        </p:txBody>
      </p:sp>
      <p:sp>
        <p:nvSpPr>
          <p:cNvPr id="137" name="Shape 135"/>
          <p:cNvSpPr/>
          <p:nvPr/>
        </p:nvSpPr>
        <p:spPr>
          <a:xfrm>
            <a:off x="2377440" y="3429000"/>
            <a:ext cx="1078992" cy="292608"/>
          </a:xfrm>
          <a:prstGeom prst="rect">
            <a:avLst/>
          </a:prstGeom>
          <a:solidFill>
            <a:srgbClr val="788E64"/>
          </a:solidFill>
          <a:ln/>
        </p:spPr>
      </p:sp>
      <p:sp>
        <p:nvSpPr>
          <p:cNvPr id="138" name="Text 136"/>
          <p:cNvSpPr/>
          <p:nvPr/>
        </p:nvSpPr>
        <p:spPr>
          <a:xfrm>
            <a:off x="2377440" y="3429000"/>
            <a:ext cx="10789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91</a:t>
            </a:r>
            <a:endParaRPr lang="en-US" sz="750" dirty="0"/>
          </a:p>
        </p:txBody>
      </p:sp>
      <p:sp>
        <p:nvSpPr>
          <p:cNvPr id="139" name="Shape 137"/>
          <p:cNvSpPr/>
          <p:nvPr/>
        </p:nvSpPr>
        <p:spPr>
          <a:xfrm>
            <a:off x="3493008" y="3429000"/>
            <a:ext cx="1078992" cy="292608"/>
          </a:xfrm>
          <a:prstGeom prst="rect">
            <a:avLst/>
          </a:prstGeom>
          <a:solidFill>
            <a:srgbClr val="4D7987"/>
          </a:solidFill>
          <a:ln/>
        </p:spPr>
      </p:sp>
      <p:sp>
        <p:nvSpPr>
          <p:cNvPr id="140" name="Text 138"/>
          <p:cNvSpPr/>
          <p:nvPr/>
        </p:nvSpPr>
        <p:spPr>
          <a:xfrm>
            <a:off x="3493008" y="3429000"/>
            <a:ext cx="10789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68</a:t>
            </a:r>
            <a:endParaRPr lang="en-US" sz="750" dirty="0"/>
          </a:p>
        </p:txBody>
      </p:sp>
      <p:sp>
        <p:nvSpPr>
          <p:cNvPr id="141" name="Shape 139"/>
          <p:cNvSpPr/>
          <p:nvPr/>
        </p:nvSpPr>
        <p:spPr>
          <a:xfrm>
            <a:off x="4608576" y="3429000"/>
            <a:ext cx="1078992" cy="292608"/>
          </a:xfrm>
          <a:prstGeom prst="rect">
            <a:avLst/>
          </a:prstGeom>
          <a:solidFill>
            <a:srgbClr val="788F64"/>
          </a:solidFill>
          <a:ln/>
        </p:spPr>
      </p:sp>
      <p:sp>
        <p:nvSpPr>
          <p:cNvPr id="142" name="Text 140"/>
          <p:cNvSpPr/>
          <p:nvPr/>
        </p:nvSpPr>
        <p:spPr>
          <a:xfrm>
            <a:off x="4608576" y="3429000"/>
            <a:ext cx="10789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91</a:t>
            </a:r>
            <a:endParaRPr lang="en-US" sz="750" dirty="0"/>
          </a:p>
        </p:txBody>
      </p:sp>
      <p:sp>
        <p:nvSpPr>
          <p:cNvPr id="143" name="Shape 141"/>
          <p:cNvSpPr/>
          <p:nvPr/>
        </p:nvSpPr>
        <p:spPr>
          <a:xfrm>
            <a:off x="5724144" y="3429000"/>
            <a:ext cx="1078992" cy="292608"/>
          </a:xfrm>
          <a:prstGeom prst="rect">
            <a:avLst/>
          </a:prstGeom>
          <a:solidFill>
            <a:srgbClr val="577E7E"/>
          </a:solidFill>
          <a:ln/>
        </p:spPr>
      </p:sp>
      <p:sp>
        <p:nvSpPr>
          <p:cNvPr id="144" name="Text 142"/>
          <p:cNvSpPr/>
          <p:nvPr/>
        </p:nvSpPr>
        <p:spPr>
          <a:xfrm>
            <a:off x="5724144" y="3429000"/>
            <a:ext cx="10789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74</a:t>
            </a:r>
            <a:endParaRPr lang="en-US" sz="750" dirty="0"/>
          </a:p>
        </p:txBody>
      </p:sp>
      <p:sp>
        <p:nvSpPr>
          <p:cNvPr id="145" name="Shape 143"/>
          <p:cNvSpPr/>
          <p:nvPr/>
        </p:nvSpPr>
        <p:spPr>
          <a:xfrm>
            <a:off x="6839712" y="3429000"/>
            <a:ext cx="1078992" cy="292608"/>
          </a:xfrm>
          <a:prstGeom prst="rect">
            <a:avLst/>
          </a:prstGeom>
          <a:solidFill>
            <a:srgbClr val="13244A"/>
          </a:solidFill>
          <a:ln/>
        </p:spPr>
      </p:sp>
      <p:sp>
        <p:nvSpPr>
          <p:cNvPr id="146" name="Text 144"/>
          <p:cNvSpPr/>
          <p:nvPr/>
        </p:nvSpPr>
        <p:spPr>
          <a:xfrm>
            <a:off x="6839712" y="3429000"/>
            <a:ext cx="10789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750" dirty="0"/>
          </a:p>
        </p:txBody>
      </p:sp>
      <p:sp>
        <p:nvSpPr>
          <p:cNvPr id="147" name="Shape 145"/>
          <p:cNvSpPr/>
          <p:nvPr/>
        </p:nvSpPr>
        <p:spPr>
          <a:xfrm>
            <a:off x="7955280" y="3429000"/>
            <a:ext cx="1078992" cy="292608"/>
          </a:xfrm>
          <a:prstGeom prst="rect">
            <a:avLst/>
          </a:prstGeom>
          <a:solidFill>
            <a:srgbClr val="111F43"/>
          </a:solidFill>
          <a:ln/>
        </p:spPr>
      </p:sp>
      <p:sp>
        <p:nvSpPr>
          <p:cNvPr id="148" name="Text 146"/>
          <p:cNvSpPr/>
          <p:nvPr/>
        </p:nvSpPr>
        <p:spPr>
          <a:xfrm>
            <a:off x="7955280" y="3429000"/>
            <a:ext cx="10789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750" dirty="0"/>
          </a:p>
        </p:txBody>
      </p:sp>
      <p:sp>
        <p:nvSpPr>
          <p:cNvPr id="149" name="Shape 147"/>
          <p:cNvSpPr/>
          <p:nvPr/>
        </p:nvSpPr>
        <p:spPr>
          <a:xfrm>
            <a:off x="347472" y="3739896"/>
            <a:ext cx="822960" cy="292608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150" name="Text 148"/>
          <p:cNvSpPr/>
          <p:nvPr/>
        </p:nvSpPr>
        <p:spPr>
          <a:xfrm>
            <a:off x="347472" y="3739896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08:00</a:t>
            </a:r>
            <a:endParaRPr lang="en-US" sz="800" dirty="0"/>
          </a:p>
        </p:txBody>
      </p:sp>
      <p:sp>
        <p:nvSpPr>
          <p:cNvPr id="151" name="Shape 149"/>
          <p:cNvSpPr/>
          <p:nvPr/>
        </p:nvSpPr>
        <p:spPr>
          <a:xfrm>
            <a:off x="1261872" y="3739896"/>
            <a:ext cx="1078992" cy="292608"/>
          </a:xfrm>
          <a:prstGeom prst="rect">
            <a:avLst/>
          </a:prstGeom>
          <a:solidFill>
            <a:srgbClr val="E33314"/>
          </a:solidFill>
          <a:ln/>
        </p:spPr>
      </p:sp>
      <p:sp>
        <p:nvSpPr>
          <p:cNvPr id="152" name="Text 150"/>
          <p:cNvSpPr/>
          <p:nvPr/>
        </p:nvSpPr>
        <p:spPr>
          <a:xfrm>
            <a:off x="1261872" y="3739896"/>
            <a:ext cx="10789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161</a:t>
            </a:r>
            <a:endParaRPr lang="en-US" sz="750" dirty="0"/>
          </a:p>
        </p:txBody>
      </p:sp>
      <p:sp>
        <p:nvSpPr>
          <p:cNvPr id="153" name="Shape 151"/>
          <p:cNvSpPr/>
          <p:nvPr/>
        </p:nvSpPr>
        <p:spPr>
          <a:xfrm>
            <a:off x="2377440" y="3739896"/>
            <a:ext cx="1078992" cy="292608"/>
          </a:xfrm>
          <a:prstGeom prst="rect">
            <a:avLst/>
          </a:prstGeom>
          <a:solidFill>
            <a:srgbClr val="F31314"/>
          </a:solidFill>
          <a:ln/>
        </p:spPr>
      </p:sp>
      <p:sp>
        <p:nvSpPr>
          <p:cNvPr id="154" name="Text 152"/>
          <p:cNvSpPr/>
          <p:nvPr/>
        </p:nvSpPr>
        <p:spPr>
          <a:xfrm>
            <a:off x="2377440" y="3739896"/>
            <a:ext cx="10789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</a:t>
            </a:r>
            <a:endParaRPr lang="en-US" sz="750" dirty="0"/>
          </a:p>
        </p:txBody>
      </p:sp>
      <p:sp>
        <p:nvSpPr>
          <p:cNvPr id="155" name="Shape 153"/>
          <p:cNvSpPr/>
          <p:nvPr/>
        </p:nvSpPr>
        <p:spPr>
          <a:xfrm>
            <a:off x="3493008" y="3739896"/>
            <a:ext cx="1078992" cy="292608"/>
          </a:xfrm>
          <a:prstGeom prst="rect">
            <a:avLst/>
          </a:prstGeom>
          <a:solidFill>
            <a:srgbClr val="E23514"/>
          </a:solidFill>
          <a:ln/>
        </p:spPr>
      </p:sp>
      <p:sp>
        <p:nvSpPr>
          <p:cNvPr id="156" name="Text 154"/>
          <p:cNvSpPr/>
          <p:nvPr/>
        </p:nvSpPr>
        <p:spPr>
          <a:xfrm>
            <a:off x="3493008" y="3739896"/>
            <a:ext cx="10789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158</a:t>
            </a:r>
            <a:endParaRPr lang="en-US" sz="750" dirty="0"/>
          </a:p>
        </p:txBody>
      </p:sp>
      <p:sp>
        <p:nvSpPr>
          <p:cNvPr id="157" name="Shape 155"/>
          <p:cNvSpPr/>
          <p:nvPr/>
        </p:nvSpPr>
        <p:spPr>
          <a:xfrm>
            <a:off x="4608576" y="3739896"/>
            <a:ext cx="1078992" cy="292608"/>
          </a:xfrm>
          <a:prstGeom prst="rect">
            <a:avLst/>
          </a:prstGeom>
          <a:solidFill>
            <a:srgbClr val="F50F14"/>
          </a:solidFill>
          <a:ln/>
        </p:spPr>
      </p:sp>
      <p:sp>
        <p:nvSpPr>
          <p:cNvPr id="158" name="Text 156"/>
          <p:cNvSpPr/>
          <p:nvPr/>
        </p:nvSpPr>
        <p:spPr>
          <a:xfrm>
            <a:off x="4608576" y="3739896"/>
            <a:ext cx="10789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207</a:t>
            </a:r>
            <a:endParaRPr lang="en-US" sz="750" dirty="0"/>
          </a:p>
        </p:txBody>
      </p:sp>
      <p:sp>
        <p:nvSpPr>
          <p:cNvPr id="159" name="Shape 157"/>
          <p:cNvSpPr/>
          <p:nvPr/>
        </p:nvSpPr>
        <p:spPr>
          <a:xfrm>
            <a:off x="5724144" y="3739896"/>
            <a:ext cx="1078992" cy="292608"/>
          </a:xfrm>
          <a:prstGeom prst="rect">
            <a:avLst/>
          </a:prstGeom>
          <a:solidFill>
            <a:srgbClr val="F11714"/>
          </a:solidFill>
          <a:ln/>
        </p:spPr>
      </p:sp>
      <p:sp>
        <p:nvSpPr>
          <p:cNvPr id="160" name="Text 158"/>
          <p:cNvSpPr/>
          <p:nvPr/>
        </p:nvSpPr>
        <p:spPr>
          <a:xfrm>
            <a:off x="5724144" y="3739896"/>
            <a:ext cx="10789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196</a:t>
            </a:r>
            <a:endParaRPr lang="en-US" sz="750" dirty="0"/>
          </a:p>
        </p:txBody>
      </p:sp>
      <p:sp>
        <p:nvSpPr>
          <p:cNvPr id="161" name="Shape 159"/>
          <p:cNvSpPr/>
          <p:nvPr/>
        </p:nvSpPr>
        <p:spPr>
          <a:xfrm>
            <a:off x="6839712" y="3739896"/>
            <a:ext cx="1078992" cy="292608"/>
          </a:xfrm>
          <a:prstGeom prst="rect">
            <a:avLst/>
          </a:prstGeom>
          <a:solidFill>
            <a:srgbClr val="1B3965"/>
          </a:solidFill>
          <a:ln/>
        </p:spPr>
      </p:sp>
      <p:sp>
        <p:nvSpPr>
          <p:cNvPr id="162" name="Text 160"/>
          <p:cNvSpPr/>
          <p:nvPr/>
        </p:nvSpPr>
        <p:spPr>
          <a:xfrm>
            <a:off x="6839712" y="3739896"/>
            <a:ext cx="10789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750" dirty="0"/>
          </a:p>
        </p:txBody>
      </p:sp>
      <p:sp>
        <p:nvSpPr>
          <p:cNvPr id="163" name="Shape 161"/>
          <p:cNvSpPr/>
          <p:nvPr/>
        </p:nvSpPr>
        <p:spPr>
          <a:xfrm>
            <a:off x="7955280" y="3739896"/>
            <a:ext cx="1078992" cy="292608"/>
          </a:xfrm>
          <a:prstGeom prst="rect">
            <a:avLst/>
          </a:prstGeom>
          <a:solidFill>
            <a:srgbClr val="173058"/>
          </a:solidFill>
          <a:ln/>
        </p:spPr>
      </p:sp>
      <p:sp>
        <p:nvSpPr>
          <p:cNvPr id="164" name="Text 162"/>
          <p:cNvSpPr/>
          <p:nvPr/>
        </p:nvSpPr>
        <p:spPr>
          <a:xfrm>
            <a:off x="7955280" y="3739896"/>
            <a:ext cx="10789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750" dirty="0"/>
          </a:p>
        </p:txBody>
      </p:sp>
      <p:sp>
        <p:nvSpPr>
          <p:cNvPr id="165" name="Shape 163"/>
          <p:cNvSpPr/>
          <p:nvPr/>
        </p:nvSpPr>
        <p:spPr>
          <a:xfrm>
            <a:off x="347472" y="4050792"/>
            <a:ext cx="822960" cy="292608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166" name="Text 164"/>
          <p:cNvSpPr/>
          <p:nvPr/>
        </p:nvSpPr>
        <p:spPr>
          <a:xfrm>
            <a:off x="347472" y="4050792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09:00</a:t>
            </a:r>
            <a:endParaRPr lang="en-US" sz="800" dirty="0"/>
          </a:p>
        </p:txBody>
      </p:sp>
      <p:sp>
        <p:nvSpPr>
          <p:cNvPr id="167" name="Shape 165"/>
          <p:cNvSpPr/>
          <p:nvPr/>
        </p:nvSpPr>
        <p:spPr>
          <a:xfrm>
            <a:off x="1261872" y="4050792"/>
            <a:ext cx="1078992" cy="292608"/>
          </a:xfrm>
          <a:prstGeom prst="rect">
            <a:avLst/>
          </a:prstGeom>
          <a:solidFill>
            <a:srgbClr val="7E9160"/>
          </a:solidFill>
          <a:ln/>
        </p:spPr>
      </p:sp>
      <p:sp>
        <p:nvSpPr>
          <p:cNvPr id="168" name="Text 166"/>
          <p:cNvSpPr/>
          <p:nvPr/>
        </p:nvSpPr>
        <p:spPr>
          <a:xfrm>
            <a:off x="1261872" y="4050792"/>
            <a:ext cx="10789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94</a:t>
            </a:r>
            <a:endParaRPr lang="en-US" sz="750" dirty="0"/>
          </a:p>
        </p:txBody>
      </p:sp>
      <p:sp>
        <p:nvSpPr>
          <p:cNvPr id="169" name="Shape 167"/>
          <p:cNvSpPr/>
          <p:nvPr/>
        </p:nvSpPr>
        <p:spPr>
          <a:xfrm>
            <a:off x="2377440" y="4050792"/>
            <a:ext cx="1078992" cy="292608"/>
          </a:xfrm>
          <a:prstGeom prst="rect">
            <a:avLst/>
          </a:prstGeom>
          <a:solidFill>
            <a:srgbClr val="B27237"/>
          </a:solidFill>
          <a:ln/>
        </p:spPr>
      </p:sp>
      <p:sp>
        <p:nvSpPr>
          <p:cNvPr id="170" name="Text 168"/>
          <p:cNvSpPr/>
          <p:nvPr/>
        </p:nvSpPr>
        <p:spPr>
          <a:xfrm>
            <a:off x="2377440" y="4050792"/>
            <a:ext cx="10789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125</a:t>
            </a:r>
            <a:endParaRPr lang="en-US" sz="750" dirty="0"/>
          </a:p>
        </p:txBody>
      </p:sp>
      <p:sp>
        <p:nvSpPr>
          <p:cNvPr id="171" name="Shape 169"/>
          <p:cNvSpPr/>
          <p:nvPr/>
        </p:nvSpPr>
        <p:spPr>
          <a:xfrm>
            <a:off x="3493008" y="4050792"/>
            <a:ext cx="1078992" cy="292608"/>
          </a:xfrm>
          <a:prstGeom prst="rect">
            <a:avLst/>
          </a:prstGeom>
          <a:solidFill>
            <a:srgbClr val="8D9953"/>
          </a:solidFill>
          <a:ln/>
        </p:spPr>
      </p:sp>
      <p:sp>
        <p:nvSpPr>
          <p:cNvPr id="172" name="Text 170"/>
          <p:cNvSpPr/>
          <p:nvPr/>
        </p:nvSpPr>
        <p:spPr>
          <a:xfrm>
            <a:off x="3493008" y="4050792"/>
            <a:ext cx="10789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102</a:t>
            </a:r>
            <a:endParaRPr lang="en-US" sz="750" dirty="0"/>
          </a:p>
        </p:txBody>
      </p:sp>
      <p:sp>
        <p:nvSpPr>
          <p:cNvPr id="173" name="Shape 171"/>
          <p:cNvSpPr/>
          <p:nvPr/>
        </p:nvSpPr>
        <p:spPr>
          <a:xfrm>
            <a:off x="4608576" y="4050792"/>
            <a:ext cx="1078992" cy="292608"/>
          </a:xfrm>
          <a:prstGeom prst="rect">
            <a:avLst/>
          </a:prstGeom>
          <a:solidFill>
            <a:srgbClr val="BD652F"/>
          </a:solidFill>
          <a:ln/>
        </p:spPr>
      </p:sp>
      <p:sp>
        <p:nvSpPr>
          <p:cNvPr id="174" name="Text 172"/>
          <p:cNvSpPr/>
          <p:nvPr/>
        </p:nvSpPr>
        <p:spPr>
          <a:xfrm>
            <a:off x="4608576" y="4050792"/>
            <a:ext cx="10789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132</a:t>
            </a:r>
            <a:endParaRPr lang="en-US" sz="750" dirty="0"/>
          </a:p>
        </p:txBody>
      </p:sp>
      <p:sp>
        <p:nvSpPr>
          <p:cNvPr id="175" name="Shape 173"/>
          <p:cNvSpPr/>
          <p:nvPr/>
        </p:nvSpPr>
        <p:spPr>
          <a:xfrm>
            <a:off x="5724144" y="4050792"/>
            <a:ext cx="1078992" cy="292608"/>
          </a:xfrm>
          <a:prstGeom prst="rect">
            <a:avLst/>
          </a:prstGeom>
          <a:solidFill>
            <a:srgbClr val="BB6630"/>
          </a:solidFill>
          <a:ln/>
        </p:spPr>
      </p:sp>
      <p:sp>
        <p:nvSpPr>
          <p:cNvPr id="176" name="Text 174"/>
          <p:cNvSpPr/>
          <p:nvPr/>
        </p:nvSpPr>
        <p:spPr>
          <a:xfrm>
            <a:off x="5724144" y="4050792"/>
            <a:ext cx="10789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131</a:t>
            </a:r>
            <a:endParaRPr lang="en-US" sz="750" dirty="0"/>
          </a:p>
        </p:txBody>
      </p:sp>
      <p:sp>
        <p:nvSpPr>
          <p:cNvPr id="177" name="Shape 175"/>
          <p:cNvSpPr/>
          <p:nvPr/>
        </p:nvSpPr>
        <p:spPr>
          <a:xfrm>
            <a:off x="6839712" y="4050792"/>
            <a:ext cx="1078992" cy="292608"/>
          </a:xfrm>
          <a:prstGeom prst="rect">
            <a:avLst/>
          </a:prstGeom>
          <a:solidFill>
            <a:srgbClr val="204674"/>
          </a:solidFill>
          <a:ln/>
        </p:spPr>
      </p:sp>
      <p:sp>
        <p:nvSpPr>
          <p:cNvPr id="178" name="Text 176"/>
          <p:cNvSpPr/>
          <p:nvPr/>
        </p:nvSpPr>
        <p:spPr>
          <a:xfrm>
            <a:off x="6839712" y="4050792"/>
            <a:ext cx="10789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750" dirty="0"/>
          </a:p>
        </p:txBody>
      </p:sp>
      <p:sp>
        <p:nvSpPr>
          <p:cNvPr id="179" name="Shape 177"/>
          <p:cNvSpPr/>
          <p:nvPr/>
        </p:nvSpPr>
        <p:spPr>
          <a:xfrm>
            <a:off x="7955280" y="4050792"/>
            <a:ext cx="1078992" cy="292608"/>
          </a:xfrm>
          <a:prstGeom prst="rect">
            <a:avLst/>
          </a:prstGeom>
          <a:solidFill>
            <a:srgbClr val="224C7B"/>
          </a:solidFill>
          <a:ln/>
        </p:spPr>
      </p:sp>
      <p:sp>
        <p:nvSpPr>
          <p:cNvPr id="180" name="Text 178"/>
          <p:cNvSpPr/>
          <p:nvPr/>
        </p:nvSpPr>
        <p:spPr>
          <a:xfrm>
            <a:off x="7955280" y="4050792"/>
            <a:ext cx="10789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</a:t>
            </a:r>
            <a:endParaRPr lang="en-US" sz="750" dirty="0"/>
          </a:p>
        </p:txBody>
      </p:sp>
      <p:sp>
        <p:nvSpPr>
          <p:cNvPr id="181" name="Shape 179"/>
          <p:cNvSpPr/>
          <p:nvPr/>
        </p:nvSpPr>
        <p:spPr>
          <a:xfrm>
            <a:off x="347472" y="4361688"/>
            <a:ext cx="822960" cy="292608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182" name="Text 180"/>
          <p:cNvSpPr/>
          <p:nvPr/>
        </p:nvSpPr>
        <p:spPr>
          <a:xfrm>
            <a:off x="347472" y="4361688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10:00</a:t>
            </a:r>
            <a:endParaRPr lang="en-US" sz="800" dirty="0"/>
          </a:p>
        </p:txBody>
      </p:sp>
      <p:sp>
        <p:nvSpPr>
          <p:cNvPr id="183" name="Shape 181"/>
          <p:cNvSpPr/>
          <p:nvPr/>
        </p:nvSpPr>
        <p:spPr>
          <a:xfrm>
            <a:off x="1261872" y="4361688"/>
            <a:ext cx="1078992" cy="292608"/>
          </a:xfrm>
          <a:prstGeom prst="rect">
            <a:avLst/>
          </a:prstGeom>
          <a:solidFill>
            <a:srgbClr val="2C659B"/>
          </a:solidFill>
          <a:ln/>
        </p:spPr>
      </p:sp>
      <p:sp>
        <p:nvSpPr>
          <p:cNvPr id="184" name="Text 182"/>
          <p:cNvSpPr/>
          <p:nvPr/>
        </p:nvSpPr>
        <p:spPr>
          <a:xfrm>
            <a:off x="1261872" y="4361688"/>
            <a:ext cx="10789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</a:t>
            </a:r>
            <a:endParaRPr lang="en-US" sz="750" dirty="0"/>
          </a:p>
        </p:txBody>
      </p:sp>
      <p:sp>
        <p:nvSpPr>
          <p:cNvPr id="185" name="Shape 183"/>
          <p:cNvSpPr/>
          <p:nvPr/>
        </p:nvSpPr>
        <p:spPr>
          <a:xfrm>
            <a:off x="2377440" y="4361688"/>
            <a:ext cx="1078992" cy="292608"/>
          </a:xfrm>
          <a:prstGeom prst="rect">
            <a:avLst/>
          </a:prstGeom>
          <a:solidFill>
            <a:srgbClr val="2B659B"/>
          </a:solidFill>
          <a:ln/>
        </p:spPr>
      </p:sp>
      <p:sp>
        <p:nvSpPr>
          <p:cNvPr id="186" name="Text 184"/>
          <p:cNvSpPr/>
          <p:nvPr/>
        </p:nvSpPr>
        <p:spPr>
          <a:xfrm>
            <a:off x="2377440" y="4361688"/>
            <a:ext cx="10789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</a:t>
            </a:r>
            <a:endParaRPr lang="en-US" sz="750" dirty="0"/>
          </a:p>
        </p:txBody>
      </p:sp>
      <p:sp>
        <p:nvSpPr>
          <p:cNvPr id="187" name="Shape 185"/>
          <p:cNvSpPr/>
          <p:nvPr/>
        </p:nvSpPr>
        <p:spPr>
          <a:xfrm>
            <a:off x="3493008" y="4361688"/>
            <a:ext cx="1078992" cy="292608"/>
          </a:xfrm>
          <a:prstGeom prst="rect">
            <a:avLst/>
          </a:prstGeom>
          <a:solidFill>
            <a:srgbClr val="2B649A"/>
          </a:solidFill>
          <a:ln/>
        </p:spPr>
      </p:sp>
      <p:sp>
        <p:nvSpPr>
          <p:cNvPr id="188" name="Text 186"/>
          <p:cNvSpPr/>
          <p:nvPr/>
        </p:nvSpPr>
        <p:spPr>
          <a:xfrm>
            <a:off x="3493008" y="4361688"/>
            <a:ext cx="10789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</a:t>
            </a:r>
            <a:endParaRPr lang="en-US" sz="750" dirty="0"/>
          </a:p>
        </p:txBody>
      </p:sp>
      <p:sp>
        <p:nvSpPr>
          <p:cNvPr id="189" name="Shape 187"/>
          <p:cNvSpPr/>
          <p:nvPr/>
        </p:nvSpPr>
        <p:spPr>
          <a:xfrm>
            <a:off x="4608576" y="4361688"/>
            <a:ext cx="1078992" cy="292608"/>
          </a:xfrm>
          <a:prstGeom prst="rect">
            <a:avLst/>
          </a:prstGeom>
          <a:solidFill>
            <a:srgbClr val="295F94"/>
          </a:solidFill>
          <a:ln/>
        </p:spPr>
      </p:sp>
      <p:sp>
        <p:nvSpPr>
          <p:cNvPr id="190" name="Text 188"/>
          <p:cNvSpPr/>
          <p:nvPr/>
        </p:nvSpPr>
        <p:spPr>
          <a:xfrm>
            <a:off x="4608576" y="4361688"/>
            <a:ext cx="10789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</a:t>
            </a:r>
            <a:endParaRPr lang="en-US" sz="750" dirty="0"/>
          </a:p>
        </p:txBody>
      </p:sp>
      <p:sp>
        <p:nvSpPr>
          <p:cNvPr id="191" name="Shape 189"/>
          <p:cNvSpPr/>
          <p:nvPr/>
        </p:nvSpPr>
        <p:spPr>
          <a:xfrm>
            <a:off x="5724144" y="4361688"/>
            <a:ext cx="1078992" cy="292608"/>
          </a:xfrm>
          <a:prstGeom prst="rect">
            <a:avLst/>
          </a:prstGeom>
          <a:solidFill>
            <a:srgbClr val="2E699F"/>
          </a:solidFill>
          <a:ln/>
        </p:spPr>
      </p:sp>
      <p:sp>
        <p:nvSpPr>
          <p:cNvPr id="192" name="Text 190"/>
          <p:cNvSpPr/>
          <p:nvPr/>
        </p:nvSpPr>
        <p:spPr>
          <a:xfrm>
            <a:off x="5724144" y="4361688"/>
            <a:ext cx="10789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</a:t>
            </a:r>
            <a:endParaRPr lang="en-US" sz="750" dirty="0"/>
          </a:p>
        </p:txBody>
      </p:sp>
      <p:sp>
        <p:nvSpPr>
          <p:cNvPr id="193" name="Shape 191"/>
          <p:cNvSpPr/>
          <p:nvPr/>
        </p:nvSpPr>
        <p:spPr>
          <a:xfrm>
            <a:off x="6839712" y="4361688"/>
            <a:ext cx="1078992" cy="292608"/>
          </a:xfrm>
          <a:prstGeom prst="rect">
            <a:avLst/>
          </a:prstGeom>
          <a:solidFill>
            <a:srgbClr val="326C9C"/>
          </a:solidFill>
          <a:ln/>
        </p:spPr>
      </p:sp>
      <p:sp>
        <p:nvSpPr>
          <p:cNvPr id="194" name="Text 192"/>
          <p:cNvSpPr/>
          <p:nvPr/>
        </p:nvSpPr>
        <p:spPr>
          <a:xfrm>
            <a:off x="6839712" y="4361688"/>
            <a:ext cx="10789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</a:t>
            </a:r>
            <a:endParaRPr lang="en-US" sz="750" dirty="0"/>
          </a:p>
        </p:txBody>
      </p:sp>
      <p:sp>
        <p:nvSpPr>
          <p:cNvPr id="195" name="Shape 193"/>
          <p:cNvSpPr/>
          <p:nvPr/>
        </p:nvSpPr>
        <p:spPr>
          <a:xfrm>
            <a:off x="7955280" y="4361688"/>
            <a:ext cx="1078992" cy="292608"/>
          </a:xfrm>
          <a:prstGeom prst="rect">
            <a:avLst/>
          </a:prstGeom>
          <a:solidFill>
            <a:srgbClr val="527C82"/>
          </a:solidFill>
          <a:ln/>
        </p:spPr>
      </p:sp>
      <p:sp>
        <p:nvSpPr>
          <p:cNvPr id="196" name="Text 194"/>
          <p:cNvSpPr/>
          <p:nvPr/>
        </p:nvSpPr>
        <p:spPr>
          <a:xfrm>
            <a:off x="7955280" y="4361688"/>
            <a:ext cx="10789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71</a:t>
            </a:r>
            <a:endParaRPr lang="en-US" sz="750" dirty="0"/>
          </a:p>
        </p:txBody>
      </p:sp>
      <p:sp>
        <p:nvSpPr>
          <p:cNvPr id="197" name="Shape 195"/>
          <p:cNvSpPr/>
          <p:nvPr/>
        </p:nvSpPr>
        <p:spPr>
          <a:xfrm>
            <a:off x="347472" y="4672584"/>
            <a:ext cx="822960" cy="292608"/>
          </a:xfrm>
          <a:prstGeom prst="rect">
            <a:avLst/>
          </a:prstGeom>
          <a:solidFill>
            <a:srgbClr val="1B3A6B"/>
          </a:solidFill>
          <a:ln/>
        </p:spPr>
      </p:sp>
      <p:sp>
        <p:nvSpPr>
          <p:cNvPr id="198" name="Text 196"/>
          <p:cNvSpPr/>
          <p:nvPr/>
        </p:nvSpPr>
        <p:spPr>
          <a:xfrm>
            <a:off x="347472" y="4672584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11:00</a:t>
            </a:r>
            <a:endParaRPr lang="en-US" sz="800" dirty="0"/>
          </a:p>
        </p:txBody>
      </p:sp>
      <p:sp>
        <p:nvSpPr>
          <p:cNvPr id="199" name="Shape 197"/>
          <p:cNvSpPr/>
          <p:nvPr/>
        </p:nvSpPr>
        <p:spPr>
          <a:xfrm>
            <a:off x="1261872" y="4672584"/>
            <a:ext cx="1078992" cy="292608"/>
          </a:xfrm>
          <a:prstGeom prst="rect">
            <a:avLst/>
          </a:prstGeom>
          <a:solidFill>
            <a:srgbClr val="2B6398"/>
          </a:solidFill>
          <a:ln/>
        </p:spPr>
      </p:sp>
      <p:sp>
        <p:nvSpPr>
          <p:cNvPr id="200" name="Text 198"/>
          <p:cNvSpPr/>
          <p:nvPr/>
        </p:nvSpPr>
        <p:spPr>
          <a:xfrm>
            <a:off x="1261872" y="4672584"/>
            <a:ext cx="10789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</a:t>
            </a:r>
            <a:endParaRPr lang="en-US" sz="750" dirty="0"/>
          </a:p>
        </p:txBody>
      </p:sp>
      <p:sp>
        <p:nvSpPr>
          <p:cNvPr id="201" name="Shape 199"/>
          <p:cNvSpPr/>
          <p:nvPr/>
        </p:nvSpPr>
        <p:spPr>
          <a:xfrm>
            <a:off x="2377440" y="4672584"/>
            <a:ext cx="1078992" cy="292608"/>
          </a:xfrm>
          <a:prstGeom prst="rect">
            <a:avLst/>
          </a:prstGeom>
          <a:solidFill>
            <a:srgbClr val="2C679E"/>
          </a:solidFill>
          <a:ln/>
        </p:spPr>
      </p:sp>
      <p:sp>
        <p:nvSpPr>
          <p:cNvPr id="202" name="Text 200"/>
          <p:cNvSpPr/>
          <p:nvPr/>
        </p:nvSpPr>
        <p:spPr>
          <a:xfrm>
            <a:off x="2377440" y="4672584"/>
            <a:ext cx="10789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</a:t>
            </a:r>
            <a:endParaRPr lang="en-US" sz="750" dirty="0"/>
          </a:p>
        </p:txBody>
      </p:sp>
      <p:sp>
        <p:nvSpPr>
          <p:cNvPr id="203" name="Shape 201"/>
          <p:cNvSpPr/>
          <p:nvPr/>
        </p:nvSpPr>
        <p:spPr>
          <a:xfrm>
            <a:off x="3493008" y="4672584"/>
            <a:ext cx="1078992" cy="292608"/>
          </a:xfrm>
          <a:prstGeom prst="rect">
            <a:avLst/>
          </a:prstGeom>
          <a:solidFill>
            <a:srgbClr val="295E92"/>
          </a:solidFill>
          <a:ln/>
        </p:spPr>
      </p:sp>
      <p:sp>
        <p:nvSpPr>
          <p:cNvPr id="204" name="Text 202"/>
          <p:cNvSpPr/>
          <p:nvPr/>
        </p:nvSpPr>
        <p:spPr>
          <a:xfrm>
            <a:off x="3493008" y="4672584"/>
            <a:ext cx="10789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</a:t>
            </a:r>
            <a:endParaRPr lang="en-US" sz="750" dirty="0"/>
          </a:p>
        </p:txBody>
      </p:sp>
      <p:sp>
        <p:nvSpPr>
          <p:cNvPr id="205" name="Shape 203"/>
          <p:cNvSpPr/>
          <p:nvPr/>
        </p:nvSpPr>
        <p:spPr>
          <a:xfrm>
            <a:off x="4608576" y="4672584"/>
            <a:ext cx="1078992" cy="292608"/>
          </a:xfrm>
          <a:prstGeom prst="rect">
            <a:avLst/>
          </a:prstGeom>
          <a:solidFill>
            <a:srgbClr val="326C9C"/>
          </a:solidFill>
          <a:ln/>
        </p:spPr>
      </p:sp>
      <p:sp>
        <p:nvSpPr>
          <p:cNvPr id="206" name="Text 204"/>
          <p:cNvSpPr/>
          <p:nvPr/>
        </p:nvSpPr>
        <p:spPr>
          <a:xfrm>
            <a:off x="4608576" y="4672584"/>
            <a:ext cx="10789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</a:t>
            </a:r>
            <a:endParaRPr lang="en-US" sz="750" dirty="0"/>
          </a:p>
        </p:txBody>
      </p:sp>
      <p:sp>
        <p:nvSpPr>
          <p:cNvPr id="207" name="Shape 205"/>
          <p:cNvSpPr/>
          <p:nvPr/>
        </p:nvSpPr>
        <p:spPr>
          <a:xfrm>
            <a:off x="5724144" y="4672584"/>
            <a:ext cx="1078992" cy="292608"/>
          </a:xfrm>
          <a:prstGeom prst="rect">
            <a:avLst/>
          </a:prstGeom>
          <a:solidFill>
            <a:srgbClr val="356D99"/>
          </a:solidFill>
          <a:ln/>
        </p:spPr>
      </p:sp>
      <p:sp>
        <p:nvSpPr>
          <p:cNvPr id="208" name="Text 206"/>
          <p:cNvSpPr/>
          <p:nvPr/>
        </p:nvSpPr>
        <p:spPr>
          <a:xfrm>
            <a:off x="5724144" y="4672584"/>
            <a:ext cx="10789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56</a:t>
            </a:r>
            <a:endParaRPr lang="en-US" sz="750" dirty="0"/>
          </a:p>
        </p:txBody>
      </p:sp>
      <p:sp>
        <p:nvSpPr>
          <p:cNvPr id="209" name="Shape 207"/>
          <p:cNvSpPr/>
          <p:nvPr/>
        </p:nvSpPr>
        <p:spPr>
          <a:xfrm>
            <a:off x="6839712" y="4672584"/>
            <a:ext cx="1078992" cy="292608"/>
          </a:xfrm>
          <a:prstGeom prst="rect">
            <a:avLst/>
          </a:prstGeom>
          <a:solidFill>
            <a:srgbClr val="4D7987"/>
          </a:solidFill>
          <a:ln/>
        </p:spPr>
      </p:sp>
      <p:sp>
        <p:nvSpPr>
          <p:cNvPr id="210" name="Text 208"/>
          <p:cNvSpPr/>
          <p:nvPr/>
        </p:nvSpPr>
        <p:spPr>
          <a:xfrm>
            <a:off x="6839712" y="4672584"/>
            <a:ext cx="10789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68</a:t>
            </a:r>
            <a:endParaRPr lang="en-US" sz="750" dirty="0"/>
          </a:p>
        </p:txBody>
      </p:sp>
      <p:sp>
        <p:nvSpPr>
          <p:cNvPr id="211" name="Shape 209"/>
          <p:cNvSpPr/>
          <p:nvPr/>
        </p:nvSpPr>
        <p:spPr>
          <a:xfrm>
            <a:off x="7955280" y="4672584"/>
            <a:ext cx="1078992" cy="292608"/>
          </a:xfrm>
          <a:prstGeom prst="rect">
            <a:avLst/>
          </a:prstGeom>
          <a:solidFill>
            <a:srgbClr val="6E8A6C"/>
          </a:solidFill>
          <a:ln/>
        </p:spPr>
      </p:sp>
      <p:sp>
        <p:nvSpPr>
          <p:cNvPr id="212" name="Text 210"/>
          <p:cNvSpPr/>
          <p:nvPr/>
        </p:nvSpPr>
        <p:spPr>
          <a:xfrm>
            <a:off x="7955280" y="4672584"/>
            <a:ext cx="10789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86</a:t>
            </a:r>
            <a:endParaRPr lang="en-US" sz="750" dirty="0"/>
          </a:p>
        </p:txBody>
      </p:sp>
      <p:sp>
        <p:nvSpPr>
          <p:cNvPr id="213" name="Text 211"/>
          <p:cNvSpPr/>
          <p:nvPr/>
        </p:nvSpPr>
        <p:spPr>
          <a:xfrm>
            <a:off x="411480" y="4773168"/>
            <a:ext cx="8458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(Rows 13–24 omitted for space — full 24hr heatmap in Excel Pivot 5 sheet)</a:t>
            </a:r>
            <a:endParaRPr lang="en-US" sz="850" dirty="0"/>
          </a:p>
        </p:txBody>
      </p:sp>
      <p:sp>
        <p:nvSpPr>
          <p:cNvPr id="214" name="Shape 212"/>
          <p:cNvSpPr/>
          <p:nvPr/>
        </p:nvSpPr>
        <p:spPr>
          <a:xfrm>
            <a:off x="411480" y="5047488"/>
            <a:ext cx="8458200" cy="548640"/>
          </a:xfrm>
          <a:prstGeom prst="rect">
            <a:avLst/>
          </a:prstGeom>
          <a:solidFill>
            <a:srgbClr val="1C2333"/>
          </a:solidFill>
          <a:ln/>
          <a:effectLst>
            <a:outerShdw blurRad="127000" dist="381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215" name="Shape 213"/>
          <p:cNvSpPr/>
          <p:nvPr/>
        </p:nvSpPr>
        <p:spPr>
          <a:xfrm>
            <a:off x="411480" y="5047488"/>
            <a:ext cx="45720" cy="548640"/>
          </a:xfrm>
          <a:prstGeom prst="rect">
            <a:avLst/>
          </a:prstGeom>
          <a:solidFill>
            <a:srgbClr val="F472B6"/>
          </a:solidFill>
          <a:ln/>
        </p:spPr>
      </p:sp>
      <p:sp>
        <p:nvSpPr>
          <p:cNvPr id="216" name="Text 214"/>
          <p:cNvSpPr/>
          <p:nvPr/>
        </p:nvSpPr>
        <p:spPr>
          <a:xfrm>
            <a:off x="548640" y="5084064"/>
            <a:ext cx="8275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Peak cell: Thu 08:00 = 207.2 rentals. Weekdays (Mon–Fri) show strong AM/PM commuter peaks. Sat/Sun shift to late morning/afternoon leisure pattern. Late night (00–04h) has near-zero demand on weekdays.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8321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 Analysis — STDEV &amp; CORREL Results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11480" y="640080"/>
            <a:ext cx="8321040" cy="18288"/>
          </a:xfrm>
          <a:prstGeom prst="rect">
            <a:avLst/>
          </a:prstGeom>
          <a:solidFill>
            <a:srgbClr val="1C2333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676656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Statistical Analysis sheet  ·  Variability, correlations and key metric distributions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411480" y="960120"/>
            <a:ext cx="64008" cy="256032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6" name="Text 4"/>
          <p:cNvSpPr/>
          <p:nvPr/>
        </p:nvSpPr>
        <p:spPr>
          <a:xfrm>
            <a:off x="539496" y="9601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STDEV — Rental Demand Variability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11480" y="1261872"/>
            <a:ext cx="2697480" cy="804672"/>
          </a:xfrm>
          <a:prstGeom prst="rect">
            <a:avLst/>
          </a:prstGeom>
          <a:solidFill>
            <a:srgbClr val="161B22"/>
          </a:solidFill>
          <a:ln/>
          <a:effectLst>
            <a:outerShdw blurRad="127000" dist="381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11480" y="1261872"/>
            <a:ext cx="2697480" cy="45720"/>
          </a:xfrm>
          <a:prstGeom prst="rect">
            <a:avLst/>
          </a:prstGeom>
          <a:solidFill>
            <a:srgbClr val="FB923C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1353312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=STDEV(...)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548640" y="1536192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103120" y="1517904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FB9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50.99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48640" y="1810512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spread — demand varies a lot by hour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3291840" y="1261872"/>
            <a:ext cx="2697480" cy="804672"/>
          </a:xfrm>
          <a:prstGeom prst="rect">
            <a:avLst/>
          </a:prstGeom>
          <a:solidFill>
            <a:srgbClr val="161B22"/>
          </a:solidFill>
          <a:ln/>
          <a:effectLst>
            <a:outerShdw blurRad="127000" dist="381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91840" y="1261872"/>
            <a:ext cx="2697480" cy="4572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15" name="Text 13"/>
          <p:cNvSpPr/>
          <p:nvPr/>
        </p:nvSpPr>
        <p:spPr>
          <a:xfrm>
            <a:off x="3429000" y="1353312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=STDEV(...)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29000" y="1536192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Weekdays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983480" y="1517904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54.51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429000" y="1810512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variable — rush hours create spikes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6172200" y="1261872"/>
            <a:ext cx="2697480" cy="804672"/>
          </a:xfrm>
          <a:prstGeom prst="rect">
            <a:avLst/>
          </a:prstGeom>
          <a:solidFill>
            <a:srgbClr val="161B22"/>
          </a:solidFill>
          <a:ln/>
          <a:effectLst>
            <a:outerShdw blurRad="127000" dist="381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172200" y="1261872"/>
            <a:ext cx="2697480" cy="45720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21" name="Text 19"/>
          <p:cNvSpPr/>
          <p:nvPr/>
        </p:nvSpPr>
        <p:spPr>
          <a:xfrm>
            <a:off x="6309360" y="1353312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=STDEV(...)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6309360" y="1536192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Weekends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7863840" y="1517904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41.18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309360" y="1810512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Smoother pattern — leisure distribution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411480" y="2176272"/>
            <a:ext cx="2697480" cy="804672"/>
          </a:xfrm>
          <a:prstGeom prst="rect">
            <a:avLst/>
          </a:prstGeom>
          <a:solidFill>
            <a:srgbClr val="161B22"/>
          </a:solidFill>
          <a:ln/>
          <a:effectLst>
            <a:outerShdw blurRad="127000" dist="381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11480" y="2176272"/>
            <a:ext cx="2697480" cy="45720"/>
          </a:xfrm>
          <a:prstGeom prst="rect">
            <a:avLst/>
          </a:prstGeom>
          <a:solidFill>
            <a:srgbClr val="818CF8"/>
          </a:solidFill>
          <a:ln/>
        </p:spPr>
      </p:sp>
      <p:sp>
        <p:nvSpPr>
          <p:cNvPr id="27" name="Text 25"/>
          <p:cNvSpPr/>
          <p:nvPr/>
        </p:nvSpPr>
        <p:spPr>
          <a:xfrm>
            <a:off x="548640" y="2267712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=STDEV(...)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548640" y="2450592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Wx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2103120" y="2432304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52.06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548640" y="2724912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Wide spread — good weather boosts extremes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3291840" y="2176272"/>
            <a:ext cx="2697480" cy="804672"/>
          </a:xfrm>
          <a:prstGeom prst="rect">
            <a:avLst/>
          </a:prstGeom>
          <a:solidFill>
            <a:srgbClr val="161B22"/>
          </a:solidFill>
          <a:ln/>
          <a:effectLst>
            <a:outerShdw blurRad="127000" dist="381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3291840" y="2176272"/>
            <a:ext cx="2697480" cy="45720"/>
          </a:xfrm>
          <a:prstGeom prst="rect">
            <a:avLst/>
          </a:prstGeom>
          <a:solidFill>
            <a:srgbClr val="F472B6"/>
          </a:solidFill>
          <a:ln/>
        </p:spPr>
      </p:sp>
      <p:sp>
        <p:nvSpPr>
          <p:cNvPr id="33" name="Text 31"/>
          <p:cNvSpPr/>
          <p:nvPr/>
        </p:nvSpPr>
        <p:spPr>
          <a:xfrm>
            <a:off x="3429000" y="2267712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=STDEV(...)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3429000" y="2450592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Rain/Snow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4983480" y="2432304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F47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31.52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3429000" y="2724912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Narrower — bad weather suppresses all demand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411480" y="3108960"/>
            <a:ext cx="64008" cy="256032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38" name="Text 36"/>
          <p:cNvSpPr/>
          <p:nvPr/>
        </p:nvSpPr>
        <p:spPr>
          <a:xfrm>
            <a:off x="539496" y="310896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 — Variable Correlations with Total Rentals (cnt)</a:t>
            </a:r>
            <a:endParaRPr lang="en-US" sz="1200" dirty="0"/>
          </a:p>
        </p:txBody>
      </p:sp>
      <p:graphicFrame>
        <p:nvGraphicFramePr>
          <p:cNvPr id="39" name="Chart 0"/>
          <p:cNvGraphicFramePr/>
          <p:nvPr/>
        </p:nvGraphicFramePr>
        <p:xfrm>
          <a:off x="411480" y="3410712"/>
          <a:ext cx="5303520" cy="16916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0" name="Shape 37"/>
          <p:cNvSpPr/>
          <p:nvPr/>
        </p:nvSpPr>
        <p:spPr>
          <a:xfrm>
            <a:off x="5943600" y="3410712"/>
            <a:ext cx="2926080" cy="384048"/>
          </a:xfrm>
          <a:prstGeom prst="rect">
            <a:avLst/>
          </a:prstGeom>
          <a:solidFill>
            <a:srgbClr val="161B22"/>
          </a:solidFill>
          <a:ln/>
          <a:effectLst>
            <a:outerShdw blurRad="127000" dist="381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41" name="Shape 38"/>
          <p:cNvSpPr/>
          <p:nvPr/>
        </p:nvSpPr>
        <p:spPr>
          <a:xfrm>
            <a:off x="5943600" y="3410712"/>
            <a:ext cx="2926080" cy="45720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42" name="Text 39"/>
          <p:cNvSpPr/>
          <p:nvPr/>
        </p:nvSpPr>
        <p:spPr>
          <a:xfrm>
            <a:off x="6080760" y="34472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= +0.990</a:t>
            </a:r>
            <a:endParaRPr lang="en-US" sz="1100" dirty="0"/>
          </a:p>
        </p:txBody>
      </p:sp>
      <p:sp>
        <p:nvSpPr>
          <p:cNvPr id="43" name="Text 40"/>
          <p:cNvSpPr/>
          <p:nvPr/>
        </p:nvSpPr>
        <p:spPr>
          <a:xfrm>
            <a:off x="6995160" y="344728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Registered</a:t>
            </a:r>
            <a:endParaRPr lang="en-US" sz="950" dirty="0"/>
          </a:p>
        </p:txBody>
      </p:sp>
      <p:sp>
        <p:nvSpPr>
          <p:cNvPr id="44" name="Text 41"/>
          <p:cNvSpPr/>
          <p:nvPr/>
        </p:nvSpPr>
        <p:spPr>
          <a:xfrm>
            <a:off x="6080760" y="3648456"/>
            <a:ext cx="2651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Near-perfect driver</a:t>
            </a:r>
            <a:endParaRPr lang="en-US" sz="800" dirty="0"/>
          </a:p>
        </p:txBody>
      </p:sp>
      <p:sp>
        <p:nvSpPr>
          <p:cNvPr id="45" name="Shape 42"/>
          <p:cNvSpPr/>
          <p:nvPr/>
        </p:nvSpPr>
        <p:spPr>
          <a:xfrm>
            <a:off x="5943600" y="3849624"/>
            <a:ext cx="2926080" cy="384048"/>
          </a:xfrm>
          <a:prstGeom prst="rect">
            <a:avLst/>
          </a:prstGeom>
          <a:solidFill>
            <a:srgbClr val="161B22"/>
          </a:solidFill>
          <a:ln/>
          <a:effectLst>
            <a:outerShdw blurRad="127000" dist="381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46" name="Shape 43"/>
          <p:cNvSpPr/>
          <p:nvPr/>
        </p:nvSpPr>
        <p:spPr>
          <a:xfrm>
            <a:off x="5943600" y="3849624"/>
            <a:ext cx="2926080" cy="4572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47" name="Text 44"/>
          <p:cNvSpPr/>
          <p:nvPr/>
        </p:nvSpPr>
        <p:spPr>
          <a:xfrm>
            <a:off x="6080760" y="38862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= +0.366</a:t>
            </a:r>
            <a:endParaRPr lang="en-US" sz="1100" dirty="0"/>
          </a:p>
        </p:txBody>
      </p:sp>
      <p:sp>
        <p:nvSpPr>
          <p:cNvPr id="48" name="Text 45"/>
          <p:cNvSpPr/>
          <p:nvPr/>
        </p:nvSpPr>
        <p:spPr>
          <a:xfrm>
            <a:off x="6995160" y="388620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 of Day</a:t>
            </a:r>
            <a:endParaRPr lang="en-US" sz="950" dirty="0"/>
          </a:p>
        </p:txBody>
      </p:sp>
      <p:sp>
        <p:nvSpPr>
          <p:cNvPr id="49" name="Text 46"/>
          <p:cNvSpPr/>
          <p:nvPr/>
        </p:nvSpPr>
        <p:spPr>
          <a:xfrm>
            <a:off x="6080760" y="4087368"/>
            <a:ext cx="2651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 — rush spikes</a:t>
            </a:r>
            <a:endParaRPr lang="en-US" sz="800" dirty="0"/>
          </a:p>
        </p:txBody>
      </p:sp>
      <p:sp>
        <p:nvSpPr>
          <p:cNvPr id="50" name="Shape 47"/>
          <p:cNvSpPr/>
          <p:nvPr/>
        </p:nvSpPr>
        <p:spPr>
          <a:xfrm>
            <a:off x="5943600" y="4288536"/>
            <a:ext cx="2926080" cy="384048"/>
          </a:xfrm>
          <a:prstGeom prst="rect">
            <a:avLst/>
          </a:prstGeom>
          <a:solidFill>
            <a:srgbClr val="161B22"/>
          </a:solidFill>
          <a:ln/>
          <a:effectLst>
            <a:outerShdw blurRad="127000" dist="381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51" name="Shape 48"/>
          <p:cNvSpPr/>
          <p:nvPr/>
        </p:nvSpPr>
        <p:spPr>
          <a:xfrm>
            <a:off x="5943600" y="4288536"/>
            <a:ext cx="2926080" cy="45720"/>
          </a:xfrm>
          <a:prstGeom prst="rect">
            <a:avLst/>
          </a:prstGeom>
          <a:solidFill>
            <a:srgbClr val="FB923C"/>
          </a:solidFill>
          <a:ln/>
        </p:spPr>
      </p:sp>
      <p:sp>
        <p:nvSpPr>
          <p:cNvPr id="52" name="Text 49"/>
          <p:cNvSpPr/>
          <p:nvPr/>
        </p:nvSpPr>
        <p:spPr>
          <a:xfrm>
            <a:off x="6080760" y="43251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B9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= +0.229</a:t>
            </a:r>
            <a:endParaRPr lang="en-US" sz="1100" dirty="0"/>
          </a:p>
        </p:txBody>
      </p:sp>
      <p:sp>
        <p:nvSpPr>
          <p:cNvPr id="53" name="Text 50"/>
          <p:cNvSpPr/>
          <p:nvPr/>
        </p:nvSpPr>
        <p:spPr>
          <a:xfrm>
            <a:off x="6995160" y="432511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Temperature</a:t>
            </a:r>
            <a:endParaRPr lang="en-US" sz="950" dirty="0"/>
          </a:p>
        </p:txBody>
      </p:sp>
      <p:sp>
        <p:nvSpPr>
          <p:cNvPr id="54" name="Text 51"/>
          <p:cNvSpPr/>
          <p:nvPr/>
        </p:nvSpPr>
        <p:spPr>
          <a:xfrm>
            <a:off x="6080760" y="4526280"/>
            <a:ext cx="2651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 positive effect</a:t>
            </a:r>
            <a:endParaRPr lang="en-US" sz="800" dirty="0"/>
          </a:p>
        </p:txBody>
      </p:sp>
      <p:sp>
        <p:nvSpPr>
          <p:cNvPr id="55" name="Shape 52"/>
          <p:cNvSpPr/>
          <p:nvPr/>
        </p:nvSpPr>
        <p:spPr>
          <a:xfrm>
            <a:off x="5943600" y="4727448"/>
            <a:ext cx="2926080" cy="384048"/>
          </a:xfrm>
          <a:prstGeom prst="rect">
            <a:avLst/>
          </a:prstGeom>
          <a:solidFill>
            <a:srgbClr val="161B22"/>
          </a:solidFill>
          <a:ln/>
          <a:effectLst>
            <a:outerShdw blurRad="127000" dist="381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56" name="Shape 53"/>
          <p:cNvSpPr/>
          <p:nvPr/>
        </p:nvSpPr>
        <p:spPr>
          <a:xfrm>
            <a:off x="5943600" y="4727448"/>
            <a:ext cx="2926080" cy="45720"/>
          </a:xfrm>
          <a:prstGeom prst="rect">
            <a:avLst/>
          </a:prstGeom>
          <a:solidFill>
            <a:srgbClr val="F472B6"/>
          </a:solidFill>
          <a:ln/>
        </p:spPr>
      </p:sp>
      <p:sp>
        <p:nvSpPr>
          <p:cNvPr id="57" name="Text 54"/>
          <p:cNvSpPr/>
          <p:nvPr/>
        </p:nvSpPr>
        <p:spPr>
          <a:xfrm>
            <a:off x="6080760" y="476402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47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= −0.254</a:t>
            </a:r>
            <a:endParaRPr lang="en-US" sz="1100" dirty="0"/>
          </a:p>
        </p:txBody>
      </p:sp>
      <p:sp>
        <p:nvSpPr>
          <p:cNvPr id="58" name="Text 55"/>
          <p:cNvSpPr/>
          <p:nvPr/>
        </p:nvSpPr>
        <p:spPr>
          <a:xfrm>
            <a:off x="6995160" y="4764024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Humidity</a:t>
            </a:r>
            <a:endParaRPr lang="en-US" sz="950" dirty="0"/>
          </a:p>
        </p:txBody>
      </p:sp>
      <p:sp>
        <p:nvSpPr>
          <p:cNvPr id="59" name="Text 56"/>
          <p:cNvSpPr/>
          <p:nvPr/>
        </p:nvSpPr>
        <p:spPr>
          <a:xfrm>
            <a:off x="6080760" y="4965192"/>
            <a:ext cx="2651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negative factor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8321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5 — Interactive Dashboard (Excel)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11480" y="640080"/>
            <a:ext cx="8321040" cy="18288"/>
          </a:xfrm>
          <a:prstGeom prst="rect">
            <a:avLst/>
          </a:prstGeom>
          <a:solidFill>
            <a:srgbClr val="1C2333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676656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Dashboard sheet · 7 charts + heatmap + 5 KPI cards — all in one Excel sheet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411480" y="1024128"/>
            <a:ext cx="2011680" cy="1572768"/>
          </a:xfrm>
          <a:prstGeom prst="rect">
            <a:avLst/>
          </a:prstGeom>
          <a:solidFill>
            <a:srgbClr val="161B22"/>
          </a:solidFill>
          <a:ln/>
          <a:effectLst>
            <a:outerShdw blurRad="127000" dist="381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11480" y="1024128"/>
            <a:ext cx="2011680" cy="4572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133856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</a:rPr>
              <a:t>📈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1051560" y="1133856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Hourly Demand Curve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548640" y="1591056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 chart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548640" y="1801368"/>
            <a:ext cx="1783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24hr smooth line. Peaks at 08:00 (128) and 17:00 (140).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2606040" y="1024128"/>
            <a:ext cx="2011680" cy="1572768"/>
          </a:xfrm>
          <a:prstGeom prst="rect">
            <a:avLst/>
          </a:prstGeom>
          <a:solidFill>
            <a:srgbClr val="161B22"/>
          </a:solidFill>
          <a:ln/>
          <a:effectLst>
            <a:outerShdw blurRad="127000" dist="381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606040" y="1024128"/>
            <a:ext cx="2011680" cy="45720"/>
          </a:xfrm>
          <a:prstGeom prst="rect">
            <a:avLst/>
          </a:prstGeom>
          <a:solidFill>
            <a:srgbClr val="FB923C"/>
          </a:solidFill>
          <a:ln/>
        </p:spPr>
      </p:sp>
      <p:sp>
        <p:nvSpPr>
          <p:cNvPr id="13" name="Text 11"/>
          <p:cNvSpPr/>
          <p:nvPr/>
        </p:nvSpPr>
        <p:spPr>
          <a:xfrm>
            <a:off x="2743200" y="1133856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</a:rPr>
              <a:t>⏰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3246120" y="1133856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B9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Period Demand Bar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743200" y="1591056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Horizontal bar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2743200" y="1801368"/>
            <a:ext cx="1783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periods, each colour-coded. Evening Rush leads at 116/hr.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4800600" y="1024128"/>
            <a:ext cx="2011680" cy="1572768"/>
          </a:xfrm>
          <a:prstGeom prst="rect">
            <a:avLst/>
          </a:prstGeom>
          <a:solidFill>
            <a:srgbClr val="161B22"/>
          </a:solidFill>
          <a:ln/>
          <a:effectLst>
            <a:outerShdw blurRad="127000" dist="381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800600" y="1024128"/>
            <a:ext cx="2011680" cy="45720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19" name="Text 17"/>
          <p:cNvSpPr/>
          <p:nvPr/>
        </p:nvSpPr>
        <p:spPr>
          <a:xfrm>
            <a:off x="4937760" y="1133856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</a:rPr>
              <a:t>🌤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5440680" y="1133856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Weather Impact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4937760" y="1591056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 chart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4937760" y="1801368"/>
            <a:ext cx="1783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61.7 vs Rain 33.2 — 46% drop in bad weather.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6995160" y="1024128"/>
            <a:ext cx="2011680" cy="1572768"/>
          </a:xfrm>
          <a:prstGeom prst="rect">
            <a:avLst/>
          </a:prstGeom>
          <a:solidFill>
            <a:srgbClr val="161B22"/>
          </a:solidFill>
          <a:ln/>
          <a:effectLst>
            <a:outerShdw blurRad="127000" dist="381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995160" y="1024128"/>
            <a:ext cx="2011680" cy="45720"/>
          </a:xfrm>
          <a:prstGeom prst="rect">
            <a:avLst/>
          </a:prstGeom>
          <a:solidFill>
            <a:srgbClr val="818CF8"/>
          </a:solidFill>
          <a:ln/>
        </p:spPr>
      </p:sp>
      <p:sp>
        <p:nvSpPr>
          <p:cNvPr id="25" name="Text 23"/>
          <p:cNvSpPr/>
          <p:nvPr/>
        </p:nvSpPr>
        <p:spPr>
          <a:xfrm>
            <a:off x="7132320" y="1133856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</a:rPr>
              <a:t>📅</a:t>
            </a:r>
            <a:endParaRPr lang="en-US" sz="2400" dirty="0"/>
          </a:p>
        </p:txBody>
      </p:sp>
      <p:sp>
        <p:nvSpPr>
          <p:cNvPr id="26" name="Text 24"/>
          <p:cNvSpPr/>
          <p:nvPr/>
        </p:nvSpPr>
        <p:spPr>
          <a:xfrm>
            <a:off x="7635240" y="1133856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of Week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7132320" y="1591056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 chart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7132320" y="1801368"/>
            <a:ext cx="1783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Thu/Fri peak at 67–68/hr. Weekends orange, weekdays purple.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411480" y="2761488"/>
            <a:ext cx="2011680" cy="1572768"/>
          </a:xfrm>
          <a:prstGeom prst="rect">
            <a:avLst/>
          </a:prstGeom>
          <a:solidFill>
            <a:srgbClr val="161B22"/>
          </a:solidFill>
          <a:ln/>
          <a:effectLst>
            <a:outerShdw blurRad="127000" dist="381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11480" y="2761488"/>
            <a:ext cx="2011680" cy="45720"/>
          </a:xfrm>
          <a:prstGeom prst="rect">
            <a:avLst/>
          </a:prstGeom>
          <a:solidFill>
            <a:srgbClr val="F472B6"/>
          </a:solidFill>
          <a:ln/>
        </p:spPr>
      </p:sp>
      <p:sp>
        <p:nvSpPr>
          <p:cNvPr id="31" name="Text 29"/>
          <p:cNvSpPr/>
          <p:nvPr/>
        </p:nvSpPr>
        <p:spPr>
          <a:xfrm>
            <a:off x="548640" y="2871216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</a:rPr>
              <a:t>👤</a:t>
            </a:r>
            <a:endParaRPr lang="en-US" sz="2400" dirty="0"/>
          </a:p>
        </p:txBody>
      </p:sp>
      <p:sp>
        <p:nvSpPr>
          <p:cNvPr id="32" name="Text 30"/>
          <p:cNvSpPr/>
          <p:nvPr/>
        </p:nvSpPr>
        <p:spPr>
          <a:xfrm>
            <a:off x="1051560" y="2871216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47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Type Pie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548640" y="3328416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Donut chart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548640" y="3538728"/>
            <a:ext cx="1783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91.6% Registered · 8.4% Casual.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2606040" y="2761488"/>
            <a:ext cx="2011680" cy="1572768"/>
          </a:xfrm>
          <a:prstGeom prst="rect">
            <a:avLst/>
          </a:prstGeom>
          <a:solidFill>
            <a:srgbClr val="161B22"/>
          </a:solidFill>
          <a:ln/>
          <a:effectLst>
            <a:outerShdw blurRad="127000" dist="381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2606040" y="2761488"/>
            <a:ext cx="2011680" cy="45720"/>
          </a:xfrm>
          <a:prstGeom prst="rect">
            <a:avLst/>
          </a:prstGeom>
          <a:solidFill>
            <a:srgbClr val="FDE68A"/>
          </a:solidFill>
          <a:ln/>
        </p:spPr>
      </p:sp>
      <p:sp>
        <p:nvSpPr>
          <p:cNvPr id="37" name="Text 35"/>
          <p:cNvSpPr/>
          <p:nvPr/>
        </p:nvSpPr>
        <p:spPr>
          <a:xfrm>
            <a:off x="2743200" y="2871216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</a:rPr>
              <a:t>🔥</a:t>
            </a:r>
            <a:endParaRPr lang="en-US" sz="2400" dirty="0"/>
          </a:p>
        </p:txBody>
      </p:sp>
      <p:sp>
        <p:nvSpPr>
          <p:cNvPr id="38" name="Text 36"/>
          <p:cNvSpPr/>
          <p:nvPr/>
        </p:nvSpPr>
        <p:spPr>
          <a:xfrm>
            <a:off x="3246120" y="2871216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DE6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 Heatmap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2743200" y="3328416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Colour grid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2743200" y="3538728"/>
            <a:ext cx="1783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 × Day — blue→orange→red. Interactive hover values.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4800600" y="2761488"/>
            <a:ext cx="2011680" cy="1572768"/>
          </a:xfrm>
          <a:prstGeom prst="rect">
            <a:avLst/>
          </a:prstGeom>
          <a:solidFill>
            <a:srgbClr val="161B22"/>
          </a:solidFill>
          <a:ln/>
          <a:effectLst>
            <a:outerShdw blurRad="127000" dist="381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4800600" y="2761488"/>
            <a:ext cx="2011680" cy="4572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43" name="Text 41"/>
          <p:cNvSpPr/>
          <p:nvPr/>
        </p:nvSpPr>
        <p:spPr>
          <a:xfrm>
            <a:off x="4937760" y="2871216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</a:rPr>
              <a:t>👥</a:t>
            </a:r>
            <a:endParaRPr lang="en-US" sz="2400" dirty="0"/>
          </a:p>
        </p:txBody>
      </p:sp>
      <p:sp>
        <p:nvSpPr>
          <p:cNvPr id="44" name="Text 42"/>
          <p:cNvSpPr/>
          <p:nvPr/>
        </p:nvSpPr>
        <p:spPr>
          <a:xfrm>
            <a:off x="5440680" y="2871216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Casual vs Reg Stack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4937760" y="3328416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Stacked bar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4937760" y="3538728"/>
            <a:ext cx="1783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mix by period. Rush hours = 97% registered.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411480" y="4462272"/>
            <a:ext cx="64008" cy="256032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48" name="Text 46"/>
          <p:cNvSpPr/>
          <p:nvPr/>
        </p:nvSpPr>
        <p:spPr>
          <a:xfrm>
            <a:off x="539496" y="446227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KPI Cards on Dashboard</a:t>
            </a:r>
            <a:endParaRPr lang="en-US" sz="1200" dirty="0"/>
          </a:p>
        </p:txBody>
      </p:sp>
      <p:sp>
        <p:nvSpPr>
          <p:cNvPr id="49" name="Shape 47"/>
          <p:cNvSpPr/>
          <p:nvPr/>
        </p:nvSpPr>
        <p:spPr>
          <a:xfrm>
            <a:off x="411480" y="4736592"/>
            <a:ext cx="1554480" cy="475488"/>
          </a:xfrm>
          <a:prstGeom prst="rect">
            <a:avLst/>
          </a:prstGeom>
          <a:solidFill>
            <a:srgbClr val="161B22"/>
          </a:solidFill>
          <a:ln/>
          <a:effectLst>
            <a:outerShdw blurRad="127000" dist="381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50" name="Shape 48"/>
          <p:cNvSpPr/>
          <p:nvPr/>
        </p:nvSpPr>
        <p:spPr>
          <a:xfrm>
            <a:off x="411480" y="4736592"/>
            <a:ext cx="1554480" cy="36576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51" name="Text 49"/>
          <p:cNvSpPr/>
          <p:nvPr/>
        </p:nvSpPr>
        <p:spPr>
          <a:xfrm>
            <a:off x="411480" y="4782312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58,304</a:t>
            </a:r>
            <a:endParaRPr lang="en-US" sz="1400" dirty="0"/>
          </a:p>
        </p:txBody>
      </p:sp>
      <p:sp>
        <p:nvSpPr>
          <p:cNvPr id="52" name="Text 50"/>
          <p:cNvSpPr/>
          <p:nvPr/>
        </p:nvSpPr>
        <p:spPr>
          <a:xfrm>
            <a:off x="411480" y="5038344"/>
            <a:ext cx="1554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Rentals</a:t>
            </a:r>
            <a:endParaRPr lang="en-US" sz="800" dirty="0"/>
          </a:p>
        </p:txBody>
      </p:sp>
      <p:sp>
        <p:nvSpPr>
          <p:cNvPr id="53" name="Shape 51"/>
          <p:cNvSpPr/>
          <p:nvPr/>
        </p:nvSpPr>
        <p:spPr>
          <a:xfrm>
            <a:off x="2148840" y="4736592"/>
            <a:ext cx="1554480" cy="475488"/>
          </a:xfrm>
          <a:prstGeom prst="rect">
            <a:avLst/>
          </a:prstGeom>
          <a:solidFill>
            <a:srgbClr val="161B22"/>
          </a:solidFill>
          <a:ln/>
          <a:effectLst>
            <a:outerShdw blurRad="127000" dist="381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54" name="Shape 52"/>
          <p:cNvSpPr/>
          <p:nvPr/>
        </p:nvSpPr>
        <p:spPr>
          <a:xfrm>
            <a:off x="2148840" y="4736592"/>
            <a:ext cx="1554480" cy="36576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55" name="Text 53"/>
          <p:cNvSpPr/>
          <p:nvPr/>
        </p:nvSpPr>
        <p:spPr>
          <a:xfrm>
            <a:off x="2148840" y="4782312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58.3</a:t>
            </a:r>
            <a:endParaRPr lang="en-US" sz="1400" dirty="0"/>
          </a:p>
        </p:txBody>
      </p:sp>
      <p:sp>
        <p:nvSpPr>
          <p:cNvPr id="56" name="Text 54"/>
          <p:cNvSpPr/>
          <p:nvPr/>
        </p:nvSpPr>
        <p:spPr>
          <a:xfrm>
            <a:off x="2148840" y="5038344"/>
            <a:ext cx="1554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Avg/Hr</a:t>
            </a:r>
            <a:endParaRPr lang="en-US" sz="800" dirty="0"/>
          </a:p>
        </p:txBody>
      </p:sp>
      <p:sp>
        <p:nvSpPr>
          <p:cNvPr id="57" name="Shape 55"/>
          <p:cNvSpPr/>
          <p:nvPr/>
        </p:nvSpPr>
        <p:spPr>
          <a:xfrm>
            <a:off x="3886200" y="4736592"/>
            <a:ext cx="1554480" cy="475488"/>
          </a:xfrm>
          <a:prstGeom prst="rect">
            <a:avLst/>
          </a:prstGeom>
          <a:solidFill>
            <a:srgbClr val="161B22"/>
          </a:solidFill>
          <a:ln/>
          <a:effectLst>
            <a:outerShdw blurRad="127000" dist="381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58" name="Shape 56"/>
          <p:cNvSpPr/>
          <p:nvPr/>
        </p:nvSpPr>
        <p:spPr>
          <a:xfrm>
            <a:off x="3886200" y="4736592"/>
            <a:ext cx="1554480" cy="36576"/>
          </a:xfrm>
          <a:prstGeom prst="rect">
            <a:avLst/>
          </a:prstGeom>
          <a:solidFill>
            <a:srgbClr val="FB923C"/>
          </a:solidFill>
          <a:ln/>
        </p:spPr>
      </p:sp>
      <p:sp>
        <p:nvSpPr>
          <p:cNvPr id="59" name="Text 57"/>
          <p:cNvSpPr/>
          <p:nvPr/>
        </p:nvSpPr>
        <p:spPr>
          <a:xfrm>
            <a:off x="3886200" y="4782312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B9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17:00</a:t>
            </a:r>
            <a:endParaRPr lang="en-US" sz="1400" dirty="0"/>
          </a:p>
        </p:txBody>
      </p:sp>
      <p:sp>
        <p:nvSpPr>
          <p:cNvPr id="60" name="Text 58"/>
          <p:cNvSpPr/>
          <p:nvPr/>
        </p:nvSpPr>
        <p:spPr>
          <a:xfrm>
            <a:off x="3886200" y="5038344"/>
            <a:ext cx="1554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Hour</a:t>
            </a:r>
            <a:endParaRPr lang="en-US" sz="800" dirty="0"/>
          </a:p>
        </p:txBody>
      </p:sp>
      <p:sp>
        <p:nvSpPr>
          <p:cNvPr id="61" name="Shape 59"/>
          <p:cNvSpPr/>
          <p:nvPr/>
        </p:nvSpPr>
        <p:spPr>
          <a:xfrm>
            <a:off x="5623560" y="4736592"/>
            <a:ext cx="1554480" cy="475488"/>
          </a:xfrm>
          <a:prstGeom prst="rect">
            <a:avLst/>
          </a:prstGeom>
          <a:solidFill>
            <a:srgbClr val="161B22"/>
          </a:solidFill>
          <a:ln/>
          <a:effectLst>
            <a:outerShdw blurRad="127000" dist="381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62" name="Shape 60"/>
          <p:cNvSpPr/>
          <p:nvPr/>
        </p:nvSpPr>
        <p:spPr>
          <a:xfrm>
            <a:off x="5623560" y="4736592"/>
            <a:ext cx="1554480" cy="36576"/>
          </a:xfrm>
          <a:prstGeom prst="rect">
            <a:avLst/>
          </a:prstGeom>
          <a:solidFill>
            <a:srgbClr val="818CF8"/>
          </a:solidFill>
          <a:ln/>
        </p:spPr>
      </p:sp>
      <p:sp>
        <p:nvSpPr>
          <p:cNvPr id="63" name="Text 61"/>
          <p:cNvSpPr/>
          <p:nvPr/>
        </p:nvSpPr>
        <p:spPr>
          <a:xfrm>
            <a:off x="5623560" y="4782312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91.6%</a:t>
            </a:r>
            <a:endParaRPr lang="en-US" sz="1400" dirty="0"/>
          </a:p>
        </p:txBody>
      </p:sp>
      <p:sp>
        <p:nvSpPr>
          <p:cNvPr id="64" name="Text 62"/>
          <p:cNvSpPr/>
          <p:nvPr/>
        </p:nvSpPr>
        <p:spPr>
          <a:xfrm>
            <a:off x="5623560" y="5038344"/>
            <a:ext cx="1554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Registered</a:t>
            </a:r>
            <a:endParaRPr lang="en-US" sz="800" dirty="0"/>
          </a:p>
        </p:txBody>
      </p:sp>
      <p:sp>
        <p:nvSpPr>
          <p:cNvPr id="65" name="Shape 63"/>
          <p:cNvSpPr/>
          <p:nvPr/>
        </p:nvSpPr>
        <p:spPr>
          <a:xfrm>
            <a:off x="7360920" y="4736592"/>
            <a:ext cx="1554480" cy="475488"/>
          </a:xfrm>
          <a:prstGeom prst="rect">
            <a:avLst/>
          </a:prstGeom>
          <a:solidFill>
            <a:srgbClr val="161B22"/>
          </a:solidFill>
          <a:ln/>
          <a:effectLst>
            <a:outerShdw blurRad="127000" dist="381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66" name="Shape 64"/>
          <p:cNvSpPr/>
          <p:nvPr/>
        </p:nvSpPr>
        <p:spPr>
          <a:xfrm>
            <a:off x="7360920" y="4736592"/>
            <a:ext cx="1554480" cy="36576"/>
          </a:xfrm>
          <a:prstGeom prst="rect">
            <a:avLst/>
          </a:prstGeom>
          <a:solidFill>
            <a:srgbClr val="F472B6"/>
          </a:solidFill>
          <a:ln/>
        </p:spPr>
      </p:sp>
      <p:sp>
        <p:nvSpPr>
          <p:cNvPr id="67" name="Text 65"/>
          <p:cNvSpPr/>
          <p:nvPr/>
        </p:nvSpPr>
        <p:spPr>
          <a:xfrm>
            <a:off x="7360920" y="4782312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47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61.7</a:t>
            </a:r>
            <a:endParaRPr lang="en-US" sz="1400" dirty="0"/>
          </a:p>
        </p:txBody>
      </p:sp>
      <p:sp>
        <p:nvSpPr>
          <p:cNvPr id="68" name="Text 66"/>
          <p:cNvSpPr/>
          <p:nvPr/>
        </p:nvSpPr>
        <p:spPr>
          <a:xfrm>
            <a:off x="7360920" y="5038344"/>
            <a:ext cx="1554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Wx Avg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8321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 &amp; Business Recommendations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11480" y="640080"/>
            <a:ext cx="8321040" cy="18288"/>
          </a:xfrm>
          <a:prstGeom prst="rect">
            <a:avLst/>
          </a:prstGeom>
          <a:solidFill>
            <a:srgbClr val="1C2333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676656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Derived from all 6 Pivot Tables · Statistical Analysis · Correlation Matrix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411480" y="914400"/>
            <a:ext cx="4160520" cy="1417320"/>
          </a:xfrm>
          <a:prstGeom prst="rect">
            <a:avLst/>
          </a:prstGeom>
          <a:solidFill>
            <a:srgbClr val="161B22"/>
          </a:solidFill>
          <a:ln/>
          <a:effectLst>
            <a:outerShdw blurRad="127000" dist="381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11480" y="914400"/>
            <a:ext cx="54864" cy="141732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7" name="Text 5"/>
          <p:cNvSpPr/>
          <p:nvPr/>
        </p:nvSpPr>
        <p:spPr>
          <a:xfrm>
            <a:off x="576072" y="100584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</a:rPr>
              <a:t>🚀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033272" y="100584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Demand Windows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76072" y="1408176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Evening Rush (17–19h) = 116.25 avg/hr. Morning Rush (08h) hits 207 on Tue/Thu. Both rushes = 47% of all 58,304 rentals.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576072" y="1847088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Maximise fleet at stations 30 mins before rush. Consider surge pricing 07:00–09:00 &amp; 17:00–19:00.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4800600" y="914400"/>
            <a:ext cx="4160520" cy="1417320"/>
          </a:xfrm>
          <a:prstGeom prst="rect">
            <a:avLst/>
          </a:prstGeom>
          <a:solidFill>
            <a:srgbClr val="161B22"/>
          </a:solidFill>
          <a:ln/>
          <a:effectLst>
            <a:outerShdw blurRad="127000" dist="381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800600" y="914400"/>
            <a:ext cx="54864" cy="1417320"/>
          </a:xfrm>
          <a:prstGeom prst="rect">
            <a:avLst/>
          </a:prstGeom>
          <a:solidFill>
            <a:srgbClr val="FB923C"/>
          </a:solidFill>
          <a:ln/>
        </p:spPr>
      </p:sp>
      <p:sp>
        <p:nvSpPr>
          <p:cNvPr id="13" name="Text 11"/>
          <p:cNvSpPr/>
          <p:nvPr/>
        </p:nvSpPr>
        <p:spPr>
          <a:xfrm>
            <a:off x="4965192" y="100584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</a:rPr>
              <a:t>🌧️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5422392" y="100584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B9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Weather Impact is Critical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965192" y="1408176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Clear: 61.67/hr vs Rain: 33.20/hr (−46%). Humidity r=−0.254 is the strongest negative driver. 60.6% of hours were Clear.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4965192" y="1847088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Weather-triggered promotions during rain. Dynamic pricing model based on forecast humidity.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411480" y="2468880"/>
            <a:ext cx="4160520" cy="1417320"/>
          </a:xfrm>
          <a:prstGeom prst="rect">
            <a:avLst/>
          </a:prstGeom>
          <a:solidFill>
            <a:srgbClr val="161B22"/>
          </a:solidFill>
          <a:ln/>
          <a:effectLst>
            <a:outerShdw blurRad="127000" dist="381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11480" y="2468880"/>
            <a:ext cx="54864" cy="1417320"/>
          </a:xfrm>
          <a:prstGeom prst="rect">
            <a:avLst/>
          </a:prstGeom>
          <a:solidFill>
            <a:srgbClr val="818CF8"/>
          </a:solidFill>
          <a:ln/>
        </p:spPr>
      </p:sp>
      <p:sp>
        <p:nvSpPr>
          <p:cNvPr id="19" name="Text 17"/>
          <p:cNvSpPr/>
          <p:nvPr/>
        </p:nvSpPr>
        <p:spPr>
          <a:xfrm>
            <a:off x="576072" y="256032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</a:rPr>
              <a:t>👔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1033272" y="256032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Registered Users Drive Demand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76072" y="2962656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Registered = 53,383 (91.6%). r = +0.990 with total cnt — near-perfect. Morning Rush: 96.9% registered (pure commuters).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576072" y="3401568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Invest in registered user retention — subscriptions, priority access, loyalty rewards.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4800600" y="2468880"/>
            <a:ext cx="4160520" cy="1417320"/>
          </a:xfrm>
          <a:prstGeom prst="rect">
            <a:avLst/>
          </a:prstGeom>
          <a:solidFill>
            <a:srgbClr val="161B22"/>
          </a:solidFill>
          <a:ln/>
          <a:effectLst>
            <a:outerShdw blurRad="127000" dist="381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800600" y="2468880"/>
            <a:ext cx="54864" cy="1417320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25" name="Text 23"/>
          <p:cNvSpPr/>
          <p:nvPr/>
        </p:nvSpPr>
        <p:spPr>
          <a:xfrm>
            <a:off x="4965192" y="256032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</a:rPr>
              <a:t>📅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5422392" y="256032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&amp; Time Patterns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965192" y="2962656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Thu/Fri avg 67–68/hr; weekends 46–49/hr (−28%). Sat/Sun peak shifts to 10:00–14:00 (leisure). Working days = 71% of demand.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4965192" y="3401568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Rebalance bikes Fri evening from commuter stations to leisure zones for weekend demand.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411480" y="4041648"/>
            <a:ext cx="4160520" cy="1417320"/>
          </a:xfrm>
          <a:prstGeom prst="rect">
            <a:avLst/>
          </a:prstGeom>
          <a:solidFill>
            <a:srgbClr val="161B22"/>
          </a:solidFill>
          <a:ln/>
          <a:effectLst>
            <a:outerShdw blurRad="127000" dist="381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11480" y="4041648"/>
            <a:ext cx="54864" cy="1417320"/>
          </a:xfrm>
          <a:prstGeom prst="rect">
            <a:avLst/>
          </a:prstGeom>
          <a:solidFill>
            <a:srgbClr val="F472B6"/>
          </a:solidFill>
          <a:ln/>
        </p:spPr>
      </p:sp>
      <p:sp>
        <p:nvSpPr>
          <p:cNvPr id="31" name="Text 29"/>
          <p:cNvSpPr/>
          <p:nvPr/>
        </p:nvSpPr>
        <p:spPr>
          <a:xfrm>
            <a:off x="576072" y="4133088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000000"/>
                </a:solidFill>
              </a:rPr>
              <a:t>🌡️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1033272" y="4133088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47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Temperature Preference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76072" y="4535424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Mild (0.25–0.50): 76.63/hr vs Cold: 53.11/hr (+44%). 779 of 1,000 records are Cold (Jan–Feb dataset).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576072" y="4974336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Pre-expand fleet before Spring/Summer. Model shows significant latent demand in warmer months.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-1371600"/>
            <a:ext cx="5486400" cy="5486400"/>
          </a:xfrm>
          <a:prstGeom prst="ellipse">
            <a:avLst/>
          </a:prstGeom>
          <a:solidFill>
            <a:srgbClr val="1B3A6B">
              <a:alpha val="3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286000" y="2286000"/>
            <a:ext cx="4572000" cy="4572000"/>
          </a:xfrm>
          <a:prstGeom prst="ellipse">
            <a:avLst/>
          </a:prstGeom>
          <a:solidFill>
            <a:srgbClr val="1E3A5F">
              <a:alpha val="28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3429000" y="274320"/>
            <a:ext cx="2286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200" dirty="0">
                <a:solidFill>
                  <a:srgbClr val="000000"/>
                </a:solidFill>
              </a:rPr>
              <a:t>🚲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914400" y="150876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Complete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914400" y="2084832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kern="0" spc="500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2926080" y="2651760"/>
            <a:ext cx="3291840" cy="36576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8" name="Shape 6"/>
          <p:cNvSpPr/>
          <p:nvPr/>
        </p:nvSpPr>
        <p:spPr>
          <a:xfrm>
            <a:off x="548640" y="2907792"/>
            <a:ext cx="1298448" cy="960120"/>
          </a:xfrm>
          <a:prstGeom prst="rect">
            <a:avLst/>
          </a:prstGeom>
          <a:solidFill>
            <a:srgbClr val="161B22"/>
          </a:solidFill>
          <a:ln/>
          <a:effectLst>
            <a:outerShdw blurRad="127000" dist="381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48640" y="2907792"/>
            <a:ext cx="1298448" cy="4572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2962656"/>
            <a:ext cx="129844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548640" y="3401568"/>
            <a:ext cx="1298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Datasets Merged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2011680" y="2907792"/>
            <a:ext cx="1298448" cy="960120"/>
          </a:xfrm>
          <a:prstGeom prst="rect">
            <a:avLst/>
          </a:prstGeom>
          <a:solidFill>
            <a:srgbClr val="161B22"/>
          </a:solidFill>
          <a:ln/>
          <a:effectLst>
            <a:outerShdw blurRad="127000" dist="381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011680" y="2907792"/>
            <a:ext cx="1298448" cy="45720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14" name="Text 12"/>
          <p:cNvSpPr/>
          <p:nvPr/>
        </p:nvSpPr>
        <p:spPr>
          <a:xfrm>
            <a:off x="2011680" y="2962656"/>
            <a:ext cx="129844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1,000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2011680" y="3401568"/>
            <a:ext cx="1298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 Analysed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0" y="2907792"/>
            <a:ext cx="1298448" cy="960120"/>
          </a:xfrm>
          <a:prstGeom prst="rect">
            <a:avLst/>
          </a:prstGeom>
          <a:solidFill>
            <a:srgbClr val="161B22"/>
          </a:solidFill>
          <a:ln/>
          <a:effectLst>
            <a:outerShdw blurRad="127000" dist="381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474720" y="2907792"/>
            <a:ext cx="1298448" cy="45720"/>
          </a:xfrm>
          <a:prstGeom prst="rect">
            <a:avLst/>
          </a:prstGeom>
          <a:solidFill>
            <a:srgbClr val="FB923C"/>
          </a:solidFill>
          <a:ln/>
        </p:spPr>
      </p:sp>
      <p:sp>
        <p:nvSpPr>
          <p:cNvPr id="18" name="Text 16"/>
          <p:cNvSpPr/>
          <p:nvPr/>
        </p:nvSpPr>
        <p:spPr>
          <a:xfrm>
            <a:off x="3474720" y="2962656"/>
            <a:ext cx="129844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B92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3474720" y="3401568"/>
            <a:ext cx="1298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IF/IFS Formulas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4937760" y="2907792"/>
            <a:ext cx="1298448" cy="960120"/>
          </a:xfrm>
          <a:prstGeom prst="rect">
            <a:avLst/>
          </a:prstGeom>
          <a:solidFill>
            <a:srgbClr val="161B22"/>
          </a:solidFill>
          <a:ln/>
          <a:effectLst>
            <a:outerShdw blurRad="127000" dist="381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937760" y="2907792"/>
            <a:ext cx="1298448" cy="45720"/>
          </a:xfrm>
          <a:prstGeom prst="rect">
            <a:avLst/>
          </a:prstGeom>
          <a:solidFill>
            <a:srgbClr val="818CF8"/>
          </a:solidFill>
          <a:ln/>
        </p:spPr>
      </p:sp>
      <p:sp>
        <p:nvSpPr>
          <p:cNvPr id="22" name="Text 20"/>
          <p:cNvSpPr/>
          <p:nvPr/>
        </p:nvSpPr>
        <p:spPr>
          <a:xfrm>
            <a:off x="4937760" y="2962656"/>
            <a:ext cx="129844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4937760" y="3401568"/>
            <a:ext cx="1298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 Fns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6400800" y="2907792"/>
            <a:ext cx="1298448" cy="960120"/>
          </a:xfrm>
          <a:prstGeom prst="rect">
            <a:avLst/>
          </a:prstGeom>
          <a:solidFill>
            <a:srgbClr val="161B22"/>
          </a:solidFill>
          <a:ln/>
          <a:effectLst>
            <a:outerShdw blurRad="127000" dist="381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400800" y="2907792"/>
            <a:ext cx="1298448" cy="45720"/>
          </a:xfrm>
          <a:prstGeom prst="rect">
            <a:avLst/>
          </a:prstGeom>
          <a:solidFill>
            <a:srgbClr val="F472B6"/>
          </a:solidFill>
          <a:ln/>
        </p:spPr>
      </p:sp>
      <p:sp>
        <p:nvSpPr>
          <p:cNvPr id="26" name="Text 24"/>
          <p:cNvSpPr/>
          <p:nvPr/>
        </p:nvSpPr>
        <p:spPr>
          <a:xfrm>
            <a:off x="6400800" y="2962656"/>
            <a:ext cx="129844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472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400" dirty="0"/>
          </a:p>
        </p:txBody>
      </p:sp>
      <p:sp>
        <p:nvSpPr>
          <p:cNvPr id="27" name="Text 25"/>
          <p:cNvSpPr/>
          <p:nvPr/>
        </p:nvSpPr>
        <p:spPr>
          <a:xfrm>
            <a:off x="6400800" y="3401568"/>
            <a:ext cx="1298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Pivot Tables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7863840" y="2907792"/>
            <a:ext cx="1298448" cy="960120"/>
          </a:xfrm>
          <a:prstGeom prst="rect">
            <a:avLst/>
          </a:prstGeom>
          <a:solidFill>
            <a:srgbClr val="161B22"/>
          </a:solidFill>
          <a:ln/>
          <a:effectLst>
            <a:outerShdw blurRad="127000" dist="38100" dir="8100000" algn="bl" rotWithShape="0">
              <a:srgbClr val="000000">
                <a:alpha val="2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7863840" y="2907792"/>
            <a:ext cx="1298448" cy="4572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30" name="Text 28"/>
          <p:cNvSpPr/>
          <p:nvPr/>
        </p:nvSpPr>
        <p:spPr>
          <a:xfrm>
            <a:off x="7863840" y="2962656"/>
            <a:ext cx="129844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38BD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2400" dirty="0"/>
          </a:p>
        </p:txBody>
      </p:sp>
      <p:sp>
        <p:nvSpPr>
          <p:cNvPr id="31" name="Text 29"/>
          <p:cNvSpPr/>
          <p:nvPr/>
        </p:nvSpPr>
        <p:spPr>
          <a:xfrm>
            <a:off x="7863840" y="3401568"/>
            <a:ext cx="1298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Charts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457200" y="411480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NextHikes IT Solutions  ·  Bike Sharing Demand Analysis  ·  Washington D.C.  ·  Jan–Feb 2011  ·  May 2026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1316</Words>
  <Application>Microsoft Office PowerPoint</Application>
  <PresentationFormat>On-screen Show (16:9)</PresentationFormat>
  <Paragraphs>374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Bike Sharing Demand Analysis - NextHikes</dc:title>
  <dc:subject>PptxGenJS Presentation</dc:subject>
  <dc:creator>NextHikes IT Solutions</dc:creator>
  <cp:lastModifiedBy>subhashree mohanty</cp:lastModifiedBy>
  <cp:revision>2</cp:revision>
  <dcterms:created xsi:type="dcterms:W3CDTF">2026-05-24T23:16:04Z</dcterms:created>
  <dcterms:modified xsi:type="dcterms:W3CDTF">2026-05-24T23:34:09Z</dcterms:modified>
</cp:coreProperties>
</file>